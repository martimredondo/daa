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9" r:id="rId1"/>
  </p:sldMasterIdLst>
  <p:sldIdLst>
    <p:sldId id="256" r:id="rId2"/>
    <p:sldId id="257" r:id="rId3"/>
    <p:sldId id="273" r:id="rId4"/>
    <p:sldId id="259" r:id="rId5"/>
    <p:sldId id="260" r:id="rId6"/>
    <p:sldId id="262" r:id="rId7"/>
    <p:sldId id="261" r:id="rId8"/>
    <p:sldId id="264" r:id="rId9"/>
    <p:sldId id="263" r:id="rId10"/>
    <p:sldId id="266" r:id="rId11"/>
    <p:sldId id="267" r:id="rId12"/>
    <p:sldId id="271" r:id="rId13"/>
    <p:sldId id="272" r:id="rId14"/>
    <p:sldId id="270" r:id="rId15"/>
    <p:sldId id="268" r:id="rId16"/>
  </p:sldIdLst>
  <p:sldSz cx="12192000" cy="6858000"/>
  <p:notesSz cx="6858000" cy="9144000"/>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9A89"/>
    <a:srgbClr val="26262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C6ECA4-E715-D02C-2D10-62C5D5884DF6}" v="666" dt="2025-01-22T11:04:59.142"/>
    <p1510:client id="{67000FAA-10D6-39E4-5FD7-AB7377206E12}" v="544" dt="2025-01-22T00:14:21.884"/>
    <p1510:client id="{91D260FE-CC30-2D9F-228F-3A365BE6CC98}" v="502" dt="2025-01-22T00:21:59.680"/>
    <p1510:client id="{F38143C8-C978-294B-BA7F-A06CE5D4626B}" v="2751" dt="2025-01-22T00:38:08.665"/>
  </p1510:revLst>
</p1510:revInfo>
</file>

<file path=ppt/tableStyles.xml><?xml version="1.0" encoding="utf-8"?>
<a:tblStyleLst xmlns:a="http://schemas.openxmlformats.org/drawingml/2006/main" def="{5C22544A-7EE6-4342-B048-85BDC9FD1C3A}">
  <a:tblStyle styleId="{5C22544A-7EE6-4342-B048-85BDC9FD1C3A}" styleName="Estilo Médio 2 - Destaqu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p:cViewPr varScale="1">
        <p:scale>
          <a:sx n="121" d="100"/>
          <a:sy n="121" d="100"/>
        </p:scale>
        <p:origin x="74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48002-315D-49B1-B10F-137139C4BF9E}"/>
              </a:ext>
            </a:extLst>
          </p:cNvPr>
          <p:cNvSpPr>
            <a:spLocks noGrp="1"/>
          </p:cNvSpPr>
          <p:nvPr>
            <p:ph type="ctrTitle"/>
          </p:nvPr>
        </p:nvSpPr>
        <p:spPr>
          <a:xfrm>
            <a:off x="854896" y="1122363"/>
            <a:ext cx="7276733" cy="3381398"/>
          </a:xfrm>
        </p:spPr>
        <p:txBody>
          <a:bodyPr anchor="b">
            <a:normAutofit/>
          </a:bodyPr>
          <a:lstStyle>
            <a:lvl1pPr algn="l">
              <a:defRPr sz="4800" cap="none" spc="0" baseline="0"/>
            </a:lvl1pPr>
          </a:lstStyle>
          <a:p>
            <a:r>
              <a:rPr lang="en-US"/>
              <a:t>Click to edit Master title style</a:t>
            </a:r>
          </a:p>
        </p:txBody>
      </p:sp>
      <p:sp>
        <p:nvSpPr>
          <p:cNvPr id="3" name="Subtitle 2">
            <a:extLst>
              <a:ext uri="{FF2B5EF4-FFF2-40B4-BE49-F238E27FC236}">
                <a16:creationId xmlns:a16="http://schemas.microsoft.com/office/drawing/2014/main" id="{804535E0-4D9C-4DCA-8569-64503C5DC1D4}"/>
              </a:ext>
            </a:extLst>
          </p:cNvPr>
          <p:cNvSpPr>
            <a:spLocks noGrp="1"/>
          </p:cNvSpPr>
          <p:nvPr>
            <p:ph type="subTitle" idx="1"/>
          </p:nvPr>
        </p:nvSpPr>
        <p:spPr>
          <a:xfrm>
            <a:off x="854894" y="4612942"/>
            <a:ext cx="7276733" cy="1181683"/>
          </a:xfrm>
        </p:spPr>
        <p:txBody>
          <a:bodyPr>
            <a:normAutofit/>
          </a:bodyPr>
          <a:lstStyle>
            <a:lvl1pPr marL="0" indent="0" algn="l">
              <a:buNone/>
              <a:defRPr sz="1800"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F283B68-70CF-4A98-948C-6EA4BD68D2BC}"/>
              </a:ext>
            </a:extLst>
          </p:cNvPr>
          <p:cNvSpPr>
            <a:spLocks noGrp="1"/>
          </p:cNvSpPr>
          <p:nvPr>
            <p:ph type="dt" sz="half" idx="10"/>
          </p:nvPr>
        </p:nvSpPr>
        <p:spPr/>
        <p:txBody>
          <a:bodyPr/>
          <a:lstStyle/>
          <a:p>
            <a:fld id="{326951E3-958F-4611-B170-D081BA0250F9}" type="datetimeFigureOut">
              <a:rPr lang="en-US" smtClean="0"/>
              <a:t>1/22/25</a:t>
            </a:fld>
            <a:endParaRPr lang="en-US"/>
          </a:p>
        </p:txBody>
      </p:sp>
      <p:sp>
        <p:nvSpPr>
          <p:cNvPr id="5" name="Footer Placeholder 4">
            <a:extLst>
              <a:ext uri="{FF2B5EF4-FFF2-40B4-BE49-F238E27FC236}">
                <a16:creationId xmlns:a16="http://schemas.microsoft.com/office/drawing/2014/main" id="{B3EC2EF9-7F83-4AD3-B3F6-B9D4618D6E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1B751B-3464-41CD-B728-A72BB191E29F}"/>
              </a:ext>
            </a:extLst>
          </p:cNvPr>
          <p:cNvSpPr>
            <a:spLocks noGrp="1"/>
          </p:cNvSpPr>
          <p:nvPr>
            <p:ph type="sldNum" sz="quarter" idx="12"/>
          </p:nvPr>
        </p:nvSpPr>
        <p:spPr/>
        <p:txBody>
          <a:bodyPr/>
          <a:lstStyle/>
          <a:p>
            <a:fld id="{57871EFB-7B9E-4E86-A89E-697E8EBB06F2}" type="slidenum">
              <a:rPr lang="en-US" smtClean="0"/>
              <a:t>‹nº›</a:t>
            </a:fld>
            <a:endParaRPr lang="en-US"/>
          </a:p>
        </p:txBody>
      </p:sp>
    </p:spTree>
    <p:extLst>
      <p:ext uri="{BB962C8B-B14F-4D97-AF65-F5344CB8AC3E}">
        <p14:creationId xmlns:p14="http://schemas.microsoft.com/office/powerpoint/2010/main" val="42911731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BFD42-94A9-4345-AF38-7D562B5021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864C458-A63B-4032-B4EC-732DAC188C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A855B5-7F2F-408B-800D-92CB34B99234}"/>
              </a:ext>
            </a:extLst>
          </p:cNvPr>
          <p:cNvSpPr>
            <a:spLocks noGrp="1"/>
          </p:cNvSpPr>
          <p:nvPr>
            <p:ph type="dt" sz="half" idx="10"/>
          </p:nvPr>
        </p:nvSpPr>
        <p:spPr/>
        <p:txBody>
          <a:bodyPr/>
          <a:lstStyle/>
          <a:p>
            <a:fld id="{326951E3-958F-4611-B170-D081BA0250F9}" type="datetimeFigureOut">
              <a:rPr lang="en-US" smtClean="0"/>
              <a:t>1/22/25</a:t>
            </a:fld>
            <a:endParaRPr lang="en-US"/>
          </a:p>
        </p:txBody>
      </p:sp>
      <p:sp>
        <p:nvSpPr>
          <p:cNvPr id="5" name="Footer Placeholder 4">
            <a:extLst>
              <a:ext uri="{FF2B5EF4-FFF2-40B4-BE49-F238E27FC236}">
                <a16:creationId xmlns:a16="http://schemas.microsoft.com/office/drawing/2014/main" id="{5C203412-EA6B-43CA-8B3A-F502587CBB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46E9EE-F895-4ECE-B4B2-586D65ED8432}"/>
              </a:ext>
            </a:extLst>
          </p:cNvPr>
          <p:cNvSpPr>
            <a:spLocks noGrp="1"/>
          </p:cNvSpPr>
          <p:nvPr>
            <p:ph type="sldNum" sz="quarter" idx="12"/>
          </p:nvPr>
        </p:nvSpPr>
        <p:spPr/>
        <p:txBody>
          <a:bodyPr/>
          <a:lstStyle/>
          <a:p>
            <a:fld id="{57871EFB-7B9E-4E86-A89E-697E8EBB06F2}" type="slidenum">
              <a:rPr lang="en-US" smtClean="0"/>
              <a:t>‹nº›</a:t>
            </a:fld>
            <a:endParaRPr lang="en-US"/>
          </a:p>
        </p:txBody>
      </p:sp>
    </p:spTree>
    <p:extLst>
      <p:ext uri="{BB962C8B-B14F-4D97-AF65-F5344CB8AC3E}">
        <p14:creationId xmlns:p14="http://schemas.microsoft.com/office/powerpoint/2010/main" val="10106632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8193F-AFAD-4A9A-B0EF-530DFB19D8DD}"/>
              </a:ext>
            </a:extLst>
          </p:cNvPr>
          <p:cNvSpPr>
            <a:spLocks noGrp="1"/>
          </p:cNvSpPr>
          <p:nvPr>
            <p:ph type="title"/>
          </p:nvPr>
        </p:nvSpPr>
        <p:spPr>
          <a:xfrm>
            <a:off x="831849" y="876299"/>
            <a:ext cx="7876722" cy="3713165"/>
          </a:xfrm>
        </p:spPr>
        <p:txBody>
          <a:bodyPr anchor="b">
            <a:normAutofit/>
          </a:bodyPr>
          <a:lstStyle>
            <a:lvl1pPr>
              <a:defRPr sz="5400"/>
            </a:lvl1pPr>
          </a:lstStyle>
          <a:p>
            <a:r>
              <a:rPr lang="en-US"/>
              <a:t>Click to edit Master title style</a:t>
            </a:r>
          </a:p>
        </p:txBody>
      </p:sp>
      <p:sp>
        <p:nvSpPr>
          <p:cNvPr id="3" name="Text Placeholder 2">
            <a:extLst>
              <a:ext uri="{FF2B5EF4-FFF2-40B4-BE49-F238E27FC236}">
                <a16:creationId xmlns:a16="http://schemas.microsoft.com/office/drawing/2014/main" id="{EFD1BBE4-9FC1-4F89-B120-1C49D816FDB9}"/>
              </a:ext>
            </a:extLst>
          </p:cNvPr>
          <p:cNvSpPr>
            <a:spLocks noGrp="1"/>
          </p:cNvSpPr>
          <p:nvPr>
            <p:ph type="body" idx="1"/>
          </p:nvPr>
        </p:nvSpPr>
        <p:spPr>
          <a:xfrm>
            <a:off x="831850" y="4746170"/>
            <a:ext cx="6781301" cy="1048455"/>
          </a:xfrm>
        </p:spPr>
        <p:txBody>
          <a:bodyPr>
            <a:normAutofit/>
          </a:bodyPr>
          <a:lstStyle>
            <a:lvl1pPr marL="0" indent="0">
              <a:buNone/>
              <a:defRPr sz="20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3530A6B-E3FD-4920-8128-C263CA1D65D1}"/>
              </a:ext>
            </a:extLst>
          </p:cNvPr>
          <p:cNvSpPr>
            <a:spLocks noGrp="1"/>
          </p:cNvSpPr>
          <p:nvPr>
            <p:ph type="dt" sz="half" idx="10"/>
          </p:nvPr>
        </p:nvSpPr>
        <p:spPr/>
        <p:txBody>
          <a:bodyPr/>
          <a:lstStyle/>
          <a:p>
            <a:fld id="{326951E3-958F-4611-B170-D081BA0250F9}" type="datetimeFigureOut">
              <a:rPr lang="en-US" smtClean="0"/>
              <a:t>1/22/25</a:t>
            </a:fld>
            <a:endParaRPr lang="en-US"/>
          </a:p>
        </p:txBody>
      </p:sp>
      <p:sp>
        <p:nvSpPr>
          <p:cNvPr id="5" name="Footer Placeholder 4">
            <a:extLst>
              <a:ext uri="{FF2B5EF4-FFF2-40B4-BE49-F238E27FC236}">
                <a16:creationId xmlns:a16="http://schemas.microsoft.com/office/drawing/2014/main" id="{8C166B85-0649-47DB-AD69-458D8F6009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B25931-A293-42E9-BDF5-B2AE121D73AD}"/>
              </a:ext>
            </a:extLst>
          </p:cNvPr>
          <p:cNvSpPr>
            <a:spLocks noGrp="1"/>
          </p:cNvSpPr>
          <p:nvPr>
            <p:ph type="sldNum" sz="quarter" idx="12"/>
          </p:nvPr>
        </p:nvSpPr>
        <p:spPr/>
        <p:txBody>
          <a:bodyPr/>
          <a:lstStyle/>
          <a:p>
            <a:fld id="{57871EFB-7B9E-4E86-A89E-697E8EBB06F2}" type="slidenum">
              <a:rPr lang="en-US" smtClean="0"/>
              <a:t>‹nº›</a:t>
            </a:fld>
            <a:endParaRPr lang="en-US"/>
          </a:p>
        </p:txBody>
      </p:sp>
    </p:spTree>
    <p:extLst>
      <p:ext uri="{BB962C8B-B14F-4D97-AF65-F5344CB8AC3E}">
        <p14:creationId xmlns:p14="http://schemas.microsoft.com/office/powerpoint/2010/main" val="16015879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5262B-ECD6-47BB-A6F1-92A6033E93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8B8779-51E9-44D1-9F7B-28F3C6D3C44D}"/>
              </a:ext>
            </a:extLst>
          </p:cNvPr>
          <p:cNvSpPr>
            <a:spLocks noGrp="1"/>
          </p:cNvSpPr>
          <p:nvPr>
            <p:ph sz="half" idx="1"/>
          </p:nvPr>
        </p:nvSpPr>
        <p:spPr>
          <a:xfrm>
            <a:off x="848474" y="2080517"/>
            <a:ext cx="4970124" cy="39773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A9E8BFB-5295-4C5E-9CB1-E276E9D0E51F}"/>
              </a:ext>
            </a:extLst>
          </p:cNvPr>
          <p:cNvSpPr>
            <a:spLocks noGrp="1"/>
          </p:cNvSpPr>
          <p:nvPr>
            <p:ph sz="half" idx="2"/>
          </p:nvPr>
        </p:nvSpPr>
        <p:spPr>
          <a:xfrm>
            <a:off x="6310899" y="2080517"/>
            <a:ext cx="4970124" cy="39773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75E22BF-1819-4301-B699-EF5A2F4D9BC4}"/>
              </a:ext>
            </a:extLst>
          </p:cNvPr>
          <p:cNvSpPr>
            <a:spLocks noGrp="1"/>
          </p:cNvSpPr>
          <p:nvPr>
            <p:ph type="dt" sz="half" idx="10"/>
          </p:nvPr>
        </p:nvSpPr>
        <p:spPr/>
        <p:txBody>
          <a:bodyPr/>
          <a:lstStyle/>
          <a:p>
            <a:fld id="{326951E3-958F-4611-B170-D081BA0250F9}" type="datetimeFigureOut">
              <a:rPr lang="en-US" smtClean="0"/>
              <a:t>1/22/25</a:t>
            </a:fld>
            <a:endParaRPr lang="en-US"/>
          </a:p>
        </p:txBody>
      </p:sp>
      <p:sp>
        <p:nvSpPr>
          <p:cNvPr id="6" name="Footer Placeholder 5">
            <a:extLst>
              <a:ext uri="{FF2B5EF4-FFF2-40B4-BE49-F238E27FC236}">
                <a16:creationId xmlns:a16="http://schemas.microsoft.com/office/drawing/2014/main" id="{3600A2DF-39DE-49C3-A213-3E8423C7AC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55D3A8-238B-4A68-A9F9-672D2F06070B}"/>
              </a:ext>
            </a:extLst>
          </p:cNvPr>
          <p:cNvSpPr>
            <a:spLocks noGrp="1"/>
          </p:cNvSpPr>
          <p:nvPr>
            <p:ph type="sldNum" sz="quarter" idx="12"/>
          </p:nvPr>
        </p:nvSpPr>
        <p:spPr/>
        <p:txBody>
          <a:bodyPr/>
          <a:lstStyle/>
          <a:p>
            <a:fld id="{57871EFB-7B9E-4E86-A89E-697E8EBB06F2}" type="slidenum">
              <a:rPr lang="en-US" smtClean="0"/>
              <a:t>‹nº›</a:t>
            </a:fld>
            <a:endParaRPr lang="en-US"/>
          </a:p>
        </p:txBody>
      </p:sp>
    </p:spTree>
    <p:extLst>
      <p:ext uri="{BB962C8B-B14F-4D97-AF65-F5344CB8AC3E}">
        <p14:creationId xmlns:p14="http://schemas.microsoft.com/office/powerpoint/2010/main" val="3479198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7D468-D010-4225-B024-DCEF543BCEB9}"/>
              </a:ext>
            </a:extLst>
          </p:cNvPr>
          <p:cNvSpPr>
            <a:spLocks noGrp="1"/>
          </p:cNvSpPr>
          <p:nvPr>
            <p:ph type="title"/>
          </p:nvPr>
        </p:nvSpPr>
        <p:spPr>
          <a:xfrm>
            <a:off x="839788" y="571955"/>
            <a:ext cx="10441236" cy="1398359"/>
          </a:xfrm>
        </p:spPr>
        <p:txBody>
          <a:bodyPr/>
          <a:lstStyle/>
          <a:p>
            <a:r>
              <a:rPr lang="en-US"/>
              <a:t>Click to edit Master title style</a:t>
            </a:r>
          </a:p>
        </p:txBody>
      </p:sp>
      <p:sp>
        <p:nvSpPr>
          <p:cNvPr id="3" name="Text Placeholder 2">
            <a:extLst>
              <a:ext uri="{FF2B5EF4-FFF2-40B4-BE49-F238E27FC236}">
                <a16:creationId xmlns:a16="http://schemas.microsoft.com/office/drawing/2014/main" id="{E73D60A0-FCAB-425A-9ECD-94CDE4F472C6}"/>
              </a:ext>
            </a:extLst>
          </p:cNvPr>
          <p:cNvSpPr>
            <a:spLocks noGrp="1"/>
          </p:cNvSpPr>
          <p:nvPr>
            <p:ph type="body" idx="1"/>
          </p:nvPr>
        </p:nvSpPr>
        <p:spPr>
          <a:xfrm>
            <a:off x="844926" y="1983242"/>
            <a:ext cx="5007110" cy="814387"/>
          </a:xfrm>
        </p:spPr>
        <p:txBody>
          <a:bodyPr anchor="b">
            <a:normAutofit/>
          </a:bodyPr>
          <a:lstStyle>
            <a:lvl1pPr marL="0" indent="0">
              <a:lnSpc>
                <a:spcPct val="110000"/>
              </a:lnSpc>
              <a:buNone/>
              <a:defRPr sz="2000" b="0" cap="all" spc="14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16F986B-07CB-4FB0-9419-2AAB318B8A10}"/>
              </a:ext>
            </a:extLst>
          </p:cNvPr>
          <p:cNvSpPr>
            <a:spLocks noGrp="1"/>
          </p:cNvSpPr>
          <p:nvPr>
            <p:ph sz="half" idx="2"/>
          </p:nvPr>
        </p:nvSpPr>
        <p:spPr>
          <a:xfrm>
            <a:off x="850063" y="2813959"/>
            <a:ext cx="5007110" cy="32439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DA9D784-7968-4E8B-B704-E42EE8F1872F}"/>
              </a:ext>
            </a:extLst>
          </p:cNvPr>
          <p:cNvSpPr>
            <a:spLocks noGrp="1"/>
          </p:cNvSpPr>
          <p:nvPr>
            <p:ph type="body" sz="quarter" idx="3"/>
          </p:nvPr>
        </p:nvSpPr>
        <p:spPr>
          <a:xfrm>
            <a:off x="6249255" y="1983242"/>
            <a:ext cx="5031769" cy="814387"/>
          </a:xfrm>
        </p:spPr>
        <p:txBody>
          <a:bodyPr anchor="b">
            <a:normAutofit/>
          </a:bodyPr>
          <a:lstStyle>
            <a:lvl1pPr marL="0" indent="0">
              <a:lnSpc>
                <a:spcPct val="110000"/>
              </a:lnSpc>
              <a:buNone/>
              <a:defRPr sz="2000" b="0" cap="all" spc="14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D45754F-08D1-4593-988F-95F0ED1A017D}"/>
              </a:ext>
            </a:extLst>
          </p:cNvPr>
          <p:cNvSpPr>
            <a:spLocks noGrp="1"/>
          </p:cNvSpPr>
          <p:nvPr>
            <p:ph sz="quarter" idx="4"/>
          </p:nvPr>
        </p:nvSpPr>
        <p:spPr>
          <a:xfrm>
            <a:off x="6249255" y="2813959"/>
            <a:ext cx="5031769" cy="32439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FED2E61-83B4-4C8F-BBFE-D95920342A1B}"/>
              </a:ext>
            </a:extLst>
          </p:cNvPr>
          <p:cNvSpPr>
            <a:spLocks noGrp="1"/>
          </p:cNvSpPr>
          <p:nvPr>
            <p:ph type="dt" sz="half" idx="10"/>
          </p:nvPr>
        </p:nvSpPr>
        <p:spPr/>
        <p:txBody>
          <a:bodyPr/>
          <a:lstStyle/>
          <a:p>
            <a:fld id="{326951E3-958F-4611-B170-D081BA0250F9}" type="datetimeFigureOut">
              <a:rPr lang="en-US" smtClean="0"/>
              <a:t>1/22/25</a:t>
            </a:fld>
            <a:endParaRPr lang="en-US"/>
          </a:p>
        </p:txBody>
      </p:sp>
      <p:sp>
        <p:nvSpPr>
          <p:cNvPr id="8" name="Footer Placeholder 7">
            <a:extLst>
              <a:ext uri="{FF2B5EF4-FFF2-40B4-BE49-F238E27FC236}">
                <a16:creationId xmlns:a16="http://schemas.microsoft.com/office/drawing/2014/main" id="{5E80C136-A664-4013-8073-B0C6BDEF8CC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6AE9547-8EE7-461B-9E99-484B11E918A7}"/>
              </a:ext>
            </a:extLst>
          </p:cNvPr>
          <p:cNvSpPr>
            <a:spLocks noGrp="1"/>
          </p:cNvSpPr>
          <p:nvPr>
            <p:ph type="sldNum" sz="quarter" idx="12"/>
          </p:nvPr>
        </p:nvSpPr>
        <p:spPr/>
        <p:txBody>
          <a:bodyPr/>
          <a:lstStyle/>
          <a:p>
            <a:fld id="{57871EFB-7B9E-4E86-A89E-697E8EBB06F2}" type="slidenum">
              <a:rPr lang="en-US" smtClean="0"/>
              <a:t>‹nº›</a:t>
            </a:fld>
            <a:endParaRPr lang="en-US"/>
          </a:p>
        </p:txBody>
      </p:sp>
    </p:spTree>
    <p:extLst>
      <p:ext uri="{BB962C8B-B14F-4D97-AF65-F5344CB8AC3E}">
        <p14:creationId xmlns:p14="http://schemas.microsoft.com/office/powerpoint/2010/main" val="36647630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2E667-0EFA-4EE6-8E4D-20805309A8A4}"/>
              </a:ext>
            </a:extLst>
          </p:cNvPr>
          <p:cNvSpPr>
            <a:spLocks noGrp="1"/>
          </p:cNvSpPr>
          <p:nvPr>
            <p:ph type="title"/>
          </p:nvPr>
        </p:nvSpPr>
        <p:spPr>
          <a:xfrm>
            <a:off x="849759" y="895440"/>
            <a:ext cx="10138451" cy="1832349"/>
          </a:xfrm>
        </p:spPr>
        <p:txBody>
          <a:bodyPr anchor="t">
            <a:normAutofit/>
          </a:bodyPr>
          <a:lstStyle>
            <a:lvl1pPr>
              <a:defRPr sz="5400"/>
            </a:lvl1pPr>
          </a:lstStyle>
          <a:p>
            <a:r>
              <a:rPr lang="en-US"/>
              <a:t>Click to edit Master title style</a:t>
            </a:r>
          </a:p>
        </p:txBody>
      </p:sp>
      <p:sp>
        <p:nvSpPr>
          <p:cNvPr id="3" name="Date Placeholder 2">
            <a:extLst>
              <a:ext uri="{FF2B5EF4-FFF2-40B4-BE49-F238E27FC236}">
                <a16:creationId xmlns:a16="http://schemas.microsoft.com/office/drawing/2014/main" id="{27EE4825-BB8C-4567-B407-B4452409D7D8}"/>
              </a:ext>
            </a:extLst>
          </p:cNvPr>
          <p:cNvSpPr>
            <a:spLocks noGrp="1"/>
          </p:cNvSpPr>
          <p:nvPr>
            <p:ph type="dt" sz="half" idx="10"/>
          </p:nvPr>
        </p:nvSpPr>
        <p:spPr/>
        <p:txBody>
          <a:bodyPr/>
          <a:lstStyle/>
          <a:p>
            <a:fld id="{326951E3-958F-4611-B170-D081BA0250F9}" type="datetimeFigureOut">
              <a:rPr lang="en-US" smtClean="0"/>
              <a:t>1/22/25</a:t>
            </a:fld>
            <a:endParaRPr lang="en-US"/>
          </a:p>
        </p:txBody>
      </p:sp>
      <p:sp>
        <p:nvSpPr>
          <p:cNvPr id="4" name="Footer Placeholder 3">
            <a:extLst>
              <a:ext uri="{FF2B5EF4-FFF2-40B4-BE49-F238E27FC236}">
                <a16:creationId xmlns:a16="http://schemas.microsoft.com/office/drawing/2014/main" id="{70838892-25DB-4A4E-9D43-6058C45C531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EC3DDDA-48EF-4B42-9980-4762AF5094E2}"/>
              </a:ext>
            </a:extLst>
          </p:cNvPr>
          <p:cNvSpPr>
            <a:spLocks noGrp="1"/>
          </p:cNvSpPr>
          <p:nvPr>
            <p:ph type="sldNum" sz="quarter" idx="12"/>
          </p:nvPr>
        </p:nvSpPr>
        <p:spPr/>
        <p:txBody>
          <a:bodyPr/>
          <a:lstStyle/>
          <a:p>
            <a:fld id="{57871EFB-7B9E-4E86-A89E-697E8EBB06F2}" type="slidenum">
              <a:rPr lang="en-US" smtClean="0"/>
              <a:t>‹nº›</a:t>
            </a:fld>
            <a:endParaRPr lang="en-US"/>
          </a:p>
        </p:txBody>
      </p:sp>
    </p:spTree>
    <p:extLst>
      <p:ext uri="{BB962C8B-B14F-4D97-AF65-F5344CB8AC3E}">
        <p14:creationId xmlns:p14="http://schemas.microsoft.com/office/powerpoint/2010/main" val="22426365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EFA7D9-6801-4DD0-8D7D-505212F466BD}"/>
              </a:ext>
            </a:extLst>
          </p:cNvPr>
          <p:cNvSpPr>
            <a:spLocks noGrp="1"/>
          </p:cNvSpPr>
          <p:nvPr>
            <p:ph type="dt" sz="half" idx="10"/>
          </p:nvPr>
        </p:nvSpPr>
        <p:spPr/>
        <p:txBody>
          <a:bodyPr/>
          <a:lstStyle/>
          <a:p>
            <a:fld id="{326951E3-958F-4611-B170-D081BA0250F9}" type="datetimeFigureOut">
              <a:rPr lang="en-US" smtClean="0"/>
              <a:t>1/22/25</a:t>
            </a:fld>
            <a:endParaRPr lang="en-US"/>
          </a:p>
        </p:txBody>
      </p:sp>
      <p:sp>
        <p:nvSpPr>
          <p:cNvPr id="3" name="Footer Placeholder 2">
            <a:extLst>
              <a:ext uri="{FF2B5EF4-FFF2-40B4-BE49-F238E27FC236}">
                <a16:creationId xmlns:a16="http://schemas.microsoft.com/office/drawing/2014/main" id="{9E6FA3EA-1519-4178-AC3A-231A5BAA793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3423DBE-6FD6-4D60-8336-7843B4BD30B0}"/>
              </a:ext>
            </a:extLst>
          </p:cNvPr>
          <p:cNvSpPr>
            <a:spLocks noGrp="1"/>
          </p:cNvSpPr>
          <p:nvPr>
            <p:ph type="sldNum" sz="quarter" idx="12"/>
          </p:nvPr>
        </p:nvSpPr>
        <p:spPr/>
        <p:txBody>
          <a:bodyPr/>
          <a:lstStyle/>
          <a:p>
            <a:fld id="{57871EFB-7B9E-4E86-A89E-697E8EBB06F2}" type="slidenum">
              <a:rPr lang="en-US" smtClean="0"/>
              <a:t>‹nº›</a:t>
            </a:fld>
            <a:endParaRPr lang="en-US"/>
          </a:p>
        </p:txBody>
      </p:sp>
    </p:spTree>
    <p:extLst>
      <p:ext uri="{BB962C8B-B14F-4D97-AF65-F5344CB8AC3E}">
        <p14:creationId xmlns:p14="http://schemas.microsoft.com/office/powerpoint/2010/main" val="42406372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2D9AE-CA1A-4751-9B33-0AC09CE629C8}"/>
              </a:ext>
            </a:extLst>
          </p:cNvPr>
          <p:cNvSpPr>
            <a:spLocks noGrp="1"/>
          </p:cNvSpPr>
          <p:nvPr>
            <p:ph type="title"/>
          </p:nvPr>
        </p:nvSpPr>
        <p:spPr>
          <a:xfrm>
            <a:off x="839789" y="996948"/>
            <a:ext cx="3046410" cy="1479551"/>
          </a:xfrm>
        </p:spPr>
        <p:txBody>
          <a:bodyPr anchor="t">
            <a:normAutofit/>
          </a:bodyPr>
          <a:lstStyle>
            <a:lvl1pPr>
              <a:lnSpc>
                <a:spcPct val="110000"/>
              </a:lnSpc>
              <a:defRPr sz="2400" cap="all" spc="400" baseline="0"/>
            </a:lvl1pPr>
          </a:lstStyle>
          <a:p>
            <a:r>
              <a:rPr lang="en-US"/>
              <a:t>Click to edit Master title style</a:t>
            </a:r>
          </a:p>
        </p:txBody>
      </p:sp>
      <p:sp>
        <p:nvSpPr>
          <p:cNvPr id="3" name="Content Placeholder 2">
            <a:extLst>
              <a:ext uri="{FF2B5EF4-FFF2-40B4-BE49-F238E27FC236}">
                <a16:creationId xmlns:a16="http://schemas.microsoft.com/office/drawing/2014/main" id="{E4DF9941-76E5-42B5-8464-C1A7010D94F0}"/>
              </a:ext>
            </a:extLst>
          </p:cNvPr>
          <p:cNvSpPr>
            <a:spLocks noGrp="1"/>
          </p:cNvSpPr>
          <p:nvPr>
            <p:ph idx="1"/>
          </p:nvPr>
        </p:nvSpPr>
        <p:spPr>
          <a:xfrm>
            <a:off x="5260796" y="876300"/>
            <a:ext cx="5758235" cy="5181599"/>
          </a:xfrm>
        </p:spPr>
        <p:txBody>
          <a:bodyPr>
            <a:normAutofit/>
          </a:bodyPr>
          <a:lstStyle>
            <a:lvl1pPr>
              <a:defRPr sz="3600"/>
            </a:lvl1pPr>
            <a:lvl2pPr>
              <a:defRPr sz="3200"/>
            </a:lvl2pPr>
            <a:lvl3pPr>
              <a:defRPr sz="2800"/>
            </a:lvl3pPr>
            <a:lvl4pPr>
              <a:defRPr sz="2400"/>
            </a:lvl4pPr>
            <a:lvl5pPr>
              <a:defRPr sz="2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84785D8-F112-415F-9AB4-5F2AC060D127}"/>
              </a:ext>
            </a:extLst>
          </p:cNvPr>
          <p:cNvSpPr>
            <a:spLocks noGrp="1"/>
          </p:cNvSpPr>
          <p:nvPr>
            <p:ph type="body" sz="half" idx="2"/>
          </p:nvPr>
        </p:nvSpPr>
        <p:spPr>
          <a:xfrm>
            <a:off x="839789" y="2666144"/>
            <a:ext cx="3046409" cy="319490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70A0B3-4E9C-4FAC-B1D1-2673F7B5A10F}"/>
              </a:ext>
            </a:extLst>
          </p:cNvPr>
          <p:cNvSpPr>
            <a:spLocks noGrp="1"/>
          </p:cNvSpPr>
          <p:nvPr>
            <p:ph type="dt" sz="half" idx="10"/>
          </p:nvPr>
        </p:nvSpPr>
        <p:spPr/>
        <p:txBody>
          <a:bodyPr/>
          <a:lstStyle/>
          <a:p>
            <a:fld id="{326951E3-958F-4611-B170-D081BA0250F9}" type="datetimeFigureOut">
              <a:rPr lang="en-US" smtClean="0"/>
              <a:t>1/22/25</a:t>
            </a:fld>
            <a:endParaRPr lang="en-US"/>
          </a:p>
        </p:txBody>
      </p:sp>
      <p:sp>
        <p:nvSpPr>
          <p:cNvPr id="6" name="Footer Placeholder 5">
            <a:extLst>
              <a:ext uri="{FF2B5EF4-FFF2-40B4-BE49-F238E27FC236}">
                <a16:creationId xmlns:a16="http://schemas.microsoft.com/office/drawing/2014/main" id="{E1AA370A-33F5-48A6-962A-47C0F15D4C8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8AD606-A37D-4697-AA7A-EAE4F101A707}"/>
              </a:ext>
            </a:extLst>
          </p:cNvPr>
          <p:cNvSpPr>
            <a:spLocks noGrp="1"/>
          </p:cNvSpPr>
          <p:nvPr>
            <p:ph type="sldNum" sz="quarter" idx="12"/>
          </p:nvPr>
        </p:nvSpPr>
        <p:spPr/>
        <p:txBody>
          <a:bodyPr/>
          <a:lstStyle/>
          <a:p>
            <a:fld id="{57871EFB-7B9E-4E86-A89E-697E8EBB06F2}" type="slidenum">
              <a:rPr lang="en-US" smtClean="0"/>
              <a:t>‹nº›</a:t>
            </a:fld>
            <a:endParaRPr lang="en-US"/>
          </a:p>
        </p:txBody>
      </p:sp>
      <p:cxnSp>
        <p:nvCxnSpPr>
          <p:cNvPr id="9" name="Straight Connector 8">
            <a:extLst>
              <a:ext uri="{FF2B5EF4-FFF2-40B4-BE49-F238E27FC236}">
                <a16:creationId xmlns:a16="http://schemas.microsoft.com/office/drawing/2014/main" id="{644E0B5E-1030-4A34-AB09-05ACB45CE993}"/>
              </a:ext>
            </a:extLst>
          </p:cNvPr>
          <p:cNvCxnSpPr>
            <a:cxnSpLocks/>
          </p:cNvCxnSpPr>
          <p:nvPr/>
        </p:nvCxnSpPr>
        <p:spPr>
          <a:xfrm>
            <a:off x="4610100" y="898989"/>
            <a:ext cx="0" cy="51387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90977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21D4C-0A93-40A6-9645-5EF7DE6C5977}"/>
              </a:ext>
            </a:extLst>
          </p:cNvPr>
          <p:cNvSpPr>
            <a:spLocks noGrp="1"/>
          </p:cNvSpPr>
          <p:nvPr>
            <p:ph type="title"/>
          </p:nvPr>
        </p:nvSpPr>
        <p:spPr>
          <a:xfrm>
            <a:off x="839789" y="989314"/>
            <a:ext cx="3046409" cy="1487185"/>
          </a:xfrm>
        </p:spPr>
        <p:txBody>
          <a:bodyPr anchor="t">
            <a:normAutofit/>
          </a:bodyPr>
          <a:lstStyle>
            <a:lvl1pPr>
              <a:lnSpc>
                <a:spcPct val="110000"/>
              </a:lnSpc>
              <a:defRPr sz="2400" cap="all" spc="300" baseline="0"/>
            </a:lvl1pPr>
          </a:lstStyle>
          <a:p>
            <a:r>
              <a:rPr lang="en-US"/>
              <a:t>Click to edit Master title style</a:t>
            </a:r>
          </a:p>
        </p:txBody>
      </p:sp>
      <p:sp>
        <p:nvSpPr>
          <p:cNvPr id="3" name="Picture Placeholder 2">
            <a:extLst>
              <a:ext uri="{FF2B5EF4-FFF2-40B4-BE49-F238E27FC236}">
                <a16:creationId xmlns:a16="http://schemas.microsoft.com/office/drawing/2014/main" id="{222F9455-852F-4604-87D4-801E8D5DB502}"/>
              </a:ext>
            </a:extLst>
          </p:cNvPr>
          <p:cNvSpPr>
            <a:spLocks noGrp="1"/>
          </p:cNvSpPr>
          <p:nvPr>
            <p:ph type="pic" idx="1"/>
          </p:nvPr>
        </p:nvSpPr>
        <p:spPr>
          <a:xfrm>
            <a:off x="5334004" y="876300"/>
            <a:ext cx="5943596" cy="518159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8842061-B161-4973-9EE4-76D0B73FC18C}"/>
              </a:ext>
            </a:extLst>
          </p:cNvPr>
          <p:cNvSpPr>
            <a:spLocks noGrp="1"/>
          </p:cNvSpPr>
          <p:nvPr>
            <p:ph type="body" sz="half" idx="2"/>
          </p:nvPr>
        </p:nvSpPr>
        <p:spPr>
          <a:xfrm>
            <a:off x="839789" y="2666143"/>
            <a:ext cx="3046409" cy="319490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DCE2E0-050A-4BC2-91DF-7A00811D28EB}"/>
              </a:ext>
            </a:extLst>
          </p:cNvPr>
          <p:cNvSpPr>
            <a:spLocks noGrp="1"/>
          </p:cNvSpPr>
          <p:nvPr>
            <p:ph type="dt" sz="half" idx="10"/>
          </p:nvPr>
        </p:nvSpPr>
        <p:spPr/>
        <p:txBody>
          <a:bodyPr/>
          <a:lstStyle/>
          <a:p>
            <a:fld id="{326951E3-958F-4611-B170-D081BA0250F9}" type="datetimeFigureOut">
              <a:rPr lang="en-US" smtClean="0"/>
              <a:t>1/22/25</a:t>
            </a:fld>
            <a:endParaRPr lang="en-US"/>
          </a:p>
        </p:txBody>
      </p:sp>
      <p:sp>
        <p:nvSpPr>
          <p:cNvPr id="6" name="Footer Placeholder 5">
            <a:extLst>
              <a:ext uri="{FF2B5EF4-FFF2-40B4-BE49-F238E27FC236}">
                <a16:creationId xmlns:a16="http://schemas.microsoft.com/office/drawing/2014/main" id="{260AB003-B443-4B96-9DD9-4284E7E1ED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179DBA-16C0-4FFB-B367-B96169B4B005}"/>
              </a:ext>
            </a:extLst>
          </p:cNvPr>
          <p:cNvSpPr>
            <a:spLocks noGrp="1"/>
          </p:cNvSpPr>
          <p:nvPr>
            <p:ph type="sldNum" sz="quarter" idx="12"/>
          </p:nvPr>
        </p:nvSpPr>
        <p:spPr/>
        <p:txBody>
          <a:bodyPr/>
          <a:lstStyle/>
          <a:p>
            <a:fld id="{57871EFB-7B9E-4E86-A89E-697E8EBB06F2}" type="slidenum">
              <a:rPr lang="en-US" smtClean="0"/>
              <a:t>‹nº›</a:t>
            </a:fld>
            <a:endParaRPr lang="en-US"/>
          </a:p>
        </p:txBody>
      </p:sp>
      <p:cxnSp>
        <p:nvCxnSpPr>
          <p:cNvPr id="13" name="Straight Connector 12">
            <a:extLst>
              <a:ext uri="{FF2B5EF4-FFF2-40B4-BE49-F238E27FC236}">
                <a16:creationId xmlns:a16="http://schemas.microsoft.com/office/drawing/2014/main" id="{C9F2BD78-1D6B-4742-9726-75646D91F4AC}"/>
              </a:ext>
            </a:extLst>
          </p:cNvPr>
          <p:cNvCxnSpPr>
            <a:cxnSpLocks/>
          </p:cNvCxnSpPr>
          <p:nvPr/>
        </p:nvCxnSpPr>
        <p:spPr>
          <a:xfrm>
            <a:off x="4610100" y="898989"/>
            <a:ext cx="0" cy="51387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13896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B5731-248B-49C2-93DE-8A3260C9FB3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6D4D5C5-3D5A-4F3D-8A08-7053DACF1F8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9E5372-3FC6-4227-B2DD-6CB24E65178F}"/>
              </a:ext>
            </a:extLst>
          </p:cNvPr>
          <p:cNvSpPr>
            <a:spLocks noGrp="1"/>
          </p:cNvSpPr>
          <p:nvPr>
            <p:ph type="dt" sz="half" idx="10"/>
          </p:nvPr>
        </p:nvSpPr>
        <p:spPr/>
        <p:txBody>
          <a:bodyPr/>
          <a:lstStyle/>
          <a:p>
            <a:fld id="{326951E3-958F-4611-B170-D081BA0250F9}" type="datetimeFigureOut">
              <a:rPr lang="en-US" smtClean="0"/>
              <a:t>1/22/25</a:t>
            </a:fld>
            <a:endParaRPr lang="en-US"/>
          </a:p>
        </p:txBody>
      </p:sp>
      <p:sp>
        <p:nvSpPr>
          <p:cNvPr id="5" name="Footer Placeholder 4">
            <a:extLst>
              <a:ext uri="{FF2B5EF4-FFF2-40B4-BE49-F238E27FC236}">
                <a16:creationId xmlns:a16="http://schemas.microsoft.com/office/drawing/2014/main" id="{B7C1B1B1-B637-4E46-B64C-F082B54C20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5567AD-4B78-41F6-B814-726D4BD4CE50}"/>
              </a:ext>
            </a:extLst>
          </p:cNvPr>
          <p:cNvSpPr>
            <a:spLocks noGrp="1"/>
          </p:cNvSpPr>
          <p:nvPr>
            <p:ph type="sldNum" sz="quarter" idx="12"/>
          </p:nvPr>
        </p:nvSpPr>
        <p:spPr/>
        <p:txBody>
          <a:bodyPr/>
          <a:lstStyle/>
          <a:p>
            <a:fld id="{57871EFB-7B9E-4E86-A89E-697E8EBB06F2}" type="slidenum">
              <a:rPr lang="en-US" smtClean="0"/>
              <a:t>‹nº›</a:t>
            </a:fld>
            <a:endParaRPr lang="en-US"/>
          </a:p>
        </p:txBody>
      </p:sp>
    </p:spTree>
    <p:extLst>
      <p:ext uri="{BB962C8B-B14F-4D97-AF65-F5344CB8AC3E}">
        <p14:creationId xmlns:p14="http://schemas.microsoft.com/office/powerpoint/2010/main" val="2045192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674D5E-67E6-4C23-B80A-0C66B53315EB}"/>
              </a:ext>
            </a:extLst>
          </p:cNvPr>
          <p:cNvSpPr>
            <a:spLocks noGrp="1"/>
          </p:cNvSpPr>
          <p:nvPr>
            <p:ph type="title" orient="vert"/>
          </p:nvPr>
        </p:nvSpPr>
        <p:spPr>
          <a:xfrm>
            <a:off x="8724900" y="876299"/>
            <a:ext cx="2628900" cy="5181601"/>
          </a:xfrm>
        </p:spPr>
        <p:txBody>
          <a:bodyPr vert="eaVert" anchor="b"/>
          <a:lstStyle/>
          <a:p>
            <a:r>
              <a:rPr lang="en-US"/>
              <a:t>Click to edit Master title style</a:t>
            </a:r>
          </a:p>
        </p:txBody>
      </p:sp>
      <p:sp>
        <p:nvSpPr>
          <p:cNvPr id="3" name="Vertical Text Placeholder 2">
            <a:extLst>
              <a:ext uri="{FF2B5EF4-FFF2-40B4-BE49-F238E27FC236}">
                <a16:creationId xmlns:a16="http://schemas.microsoft.com/office/drawing/2014/main" id="{42FEFF2A-08E8-447D-85C7-7D5A9C422C9D}"/>
              </a:ext>
            </a:extLst>
          </p:cNvPr>
          <p:cNvSpPr>
            <a:spLocks noGrp="1"/>
          </p:cNvSpPr>
          <p:nvPr>
            <p:ph type="body" orient="vert" idx="1"/>
          </p:nvPr>
        </p:nvSpPr>
        <p:spPr>
          <a:xfrm>
            <a:off x="838200" y="876299"/>
            <a:ext cx="773430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40030D-E580-4B0C-B5A8-2C8A094D9D8A}"/>
              </a:ext>
            </a:extLst>
          </p:cNvPr>
          <p:cNvSpPr>
            <a:spLocks noGrp="1"/>
          </p:cNvSpPr>
          <p:nvPr>
            <p:ph type="dt" sz="half" idx="10"/>
          </p:nvPr>
        </p:nvSpPr>
        <p:spPr/>
        <p:txBody>
          <a:bodyPr/>
          <a:lstStyle/>
          <a:p>
            <a:fld id="{326951E3-958F-4611-B170-D081BA0250F9}" type="datetimeFigureOut">
              <a:rPr lang="en-US" smtClean="0"/>
              <a:t>1/22/25</a:t>
            </a:fld>
            <a:endParaRPr lang="en-US"/>
          </a:p>
        </p:txBody>
      </p:sp>
      <p:sp>
        <p:nvSpPr>
          <p:cNvPr id="5" name="Footer Placeholder 4">
            <a:extLst>
              <a:ext uri="{FF2B5EF4-FFF2-40B4-BE49-F238E27FC236}">
                <a16:creationId xmlns:a16="http://schemas.microsoft.com/office/drawing/2014/main" id="{4F2DCAEB-1B6E-492E-918E-47179AF48A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AE4A38-A745-436E-9E33-63B9F81C0917}"/>
              </a:ext>
            </a:extLst>
          </p:cNvPr>
          <p:cNvSpPr>
            <a:spLocks noGrp="1"/>
          </p:cNvSpPr>
          <p:nvPr>
            <p:ph type="sldNum" sz="quarter" idx="12"/>
          </p:nvPr>
        </p:nvSpPr>
        <p:spPr/>
        <p:txBody>
          <a:bodyPr/>
          <a:lstStyle/>
          <a:p>
            <a:fld id="{57871EFB-7B9E-4E86-A89E-697E8EBB06F2}" type="slidenum">
              <a:rPr lang="en-US" smtClean="0"/>
              <a:t>‹nº›</a:t>
            </a:fld>
            <a:endParaRPr lang="en-US"/>
          </a:p>
        </p:txBody>
      </p:sp>
    </p:spTree>
    <p:extLst>
      <p:ext uri="{BB962C8B-B14F-4D97-AF65-F5344CB8AC3E}">
        <p14:creationId xmlns:p14="http://schemas.microsoft.com/office/powerpoint/2010/main" val="948749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B98CBCD-166B-4F97-A6DF-DAA3BF2B25A3}"/>
              </a:ext>
            </a:extLst>
          </p:cNvPr>
          <p:cNvSpPr>
            <a:spLocks noGrp="1"/>
          </p:cNvSpPr>
          <p:nvPr>
            <p:ph type="title"/>
          </p:nvPr>
        </p:nvSpPr>
        <p:spPr>
          <a:xfrm>
            <a:off x="849760" y="876302"/>
            <a:ext cx="10427840" cy="108605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0664D6D9-636D-450B-839A-22AE0CED2315}"/>
              </a:ext>
            </a:extLst>
          </p:cNvPr>
          <p:cNvSpPr>
            <a:spLocks noGrp="1"/>
          </p:cNvSpPr>
          <p:nvPr>
            <p:ph type="body" idx="1"/>
          </p:nvPr>
        </p:nvSpPr>
        <p:spPr>
          <a:xfrm>
            <a:off x="849758" y="2065984"/>
            <a:ext cx="10427841" cy="390329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E6CAEC-1EE5-4B71-9646-5C378EEBEFE8}"/>
              </a:ext>
            </a:extLst>
          </p:cNvPr>
          <p:cNvSpPr>
            <a:spLocks noGrp="1"/>
          </p:cNvSpPr>
          <p:nvPr>
            <p:ph type="dt" sz="half" idx="2"/>
          </p:nvPr>
        </p:nvSpPr>
        <p:spPr>
          <a:xfrm>
            <a:off x="7382838" y="6356350"/>
            <a:ext cx="3361362" cy="365125"/>
          </a:xfrm>
          <a:prstGeom prst="rect">
            <a:avLst/>
          </a:prstGeom>
        </p:spPr>
        <p:txBody>
          <a:bodyPr vert="horz" lIns="91440" tIns="45720" rIns="91440" bIns="45720" rtlCol="0" anchor="ctr"/>
          <a:lstStyle>
            <a:lvl1pPr algn="r">
              <a:defRPr sz="900">
                <a:solidFill>
                  <a:schemeClr val="tx2"/>
                </a:solidFill>
              </a:defRPr>
            </a:lvl1pPr>
          </a:lstStyle>
          <a:p>
            <a:fld id="{326951E3-958F-4611-B170-D081BA0250F9}" type="datetimeFigureOut">
              <a:rPr lang="en-US" smtClean="0"/>
              <a:pPr/>
              <a:t>1/22/25</a:t>
            </a:fld>
            <a:endParaRPr lang="en-US"/>
          </a:p>
        </p:txBody>
      </p:sp>
      <p:sp>
        <p:nvSpPr>
          <p:cNvPr id="5" name="Footer Placeholder 4">
            <a:extLst>
              <a:ext uri="{FF2B5EF4-FFF2-40B4-BE49-F238E27FC236}">
                <a16:creationId xmlns:a16="http://schemas.microsoft.com/office/drawing/2014/main" id="{66570EF8-70B2-4AFC-8388-691A146AA75A}"/>
              </a:ext>
            </a:extLst>
          </p:cNvPr>
          <p:cNvSpPr>
            <a:spLocks noGrp="1"/>
          </p:cNvSpPr>
          <p:nvPr>
            <p:ph type="ftr" sz="quarter" idx="3"/>
          </p:nvPr>
        </p:nvSpPr>
        <p:spPr>
          <a:xfrm>
            <a:off x="858748" y="6356350"/>
            <a:ext cx="4114800" cy="365125"/>
          </a:xfrm>
          <a:prstGeom prst="rect">
            <a:avLst/>
          </a:prstGeom>
        </p:spPr>
        <p:txBody>
          <a:bodyPr vert="horz" lIns="91440" tIns="45720" rIns="91440" bIns="45720" rtlCol="0" anchor="ctr"/>
          <a:lstStyle>
            <a:lvl1pPr algn="l">
              <a:defRPr sz="900" cap="none" spc="0" baseline="0">
                <a:solidFill>
                  <a:schemeClr val="tx2"/>
                </a:solidFill>
              </a:defRPr>
            </a:lvl1pPr>
          </a:lstStyle>
          <a:p>
            <a:endParaRPr lang="en-US"/>
          </a:p>
        </p:txBody>
      </p:sp>
      <p:sp>
        <p:nvSpPr>
          <p:cNvPr id="6" name="Slide Number Placeholder 5">
            <a:extLst>
              <a:ext uri="{FF2B5EF4-FFF2-40B4-BE49-F238E27FC236}">
                <a16:creationId xmlns:a16="http://schemas.microsoft.com/office/drawing/2014/main" id="{52F07DC7-D05C-4038-B51A-F00B7B9C996A}"/>
              </a:ext>
            </a:extLst>
          </p:cNvPr>
          <p:cNvSpPr>
            <a:spLocks noGrp="1"/>
          </p:cNvSpPr>
          <p:nvPr>
            <p:ph type="sldNum" sz="quarter" idx="4"/>
          </p:nvPr>
        </p:nvSpPr>
        <p:spPr>
          <a:xfrm>
            <a:off x="10820400" y="6356350"/>
            <a:ext cx="617669" cy="365125"/>
          </a:xfrm>
          <a:prstGeom prst="rect">
            <a:avLst/>
          </a:prstGeom>
        </p:spPr>
        <p:txBody>
          <a:bodyPr vert="horz" lIns="91440" tIns="45720" rIns="91440" bIns="45720" rtlCol="0" anchor="ctr"/>
          <a:lstStyle>
            <a:lvl1pPr algn="r">
              <a:defRPr sz="900" i="1">
                <a:solidFill>
                  <a:schemeClr val="tx2"/>
                </a:solidFill>
              </a:defRPr>
            </a:lvl1pPr>
          </a:lstStyle>
          <a:p>
            <a:fld id="{57871EFB-7B9E-4E86-A89E-697E8EBB06F2}" type="slidenum">
              <a:rPr lang="en-US" smtClean="0"/>
              <a:pPr/>
              <a:t>‹nº›</a:t>
            </a:fld>
            <a:endParaRPr lang="en-US"/>
          </a:p>
        </p:txBody>
      </p:sp>
      <p:cxnSp>
        <p:nvCxnSpPr>
          <p:cNvPr id="34" name="Straight Connector 33">
            <a:extLst>
              <a:ext uri="{FF2B5EF4-FFF2-40B4-BE49-F238E27FC236}">
                <a16:creationId xmlns:a16="http://schemas.microsoft.com/office/drawing/2014/main" id="{EAD4CCDA-06BF-4D2A-B44F-195AEC0B5B22}"/>
              </a:ext>
            </a:extLst>
          </p:cNvPr>
          <p:cNvCxnSpPr>
            <a:cxnSpLocks/>
          </p:cNvCxnSpPr>
          <p:nvPr/>
        </p:nvCxnSpPr>
        <p:spPr>
          <a:xfrm>
            <a:off x="952498" y="6252722"/>
            <a:ext cx="10325101" cy="0"/>
          </a:xfrm>
          <a:prstGeom prst="line">
            <a:avLst/>
          </a:prstGeom>
          <a:ln w="1079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5140253"/>
      </p:ext>
    </p:extLst>
  </p:cSld>
  <p:clrMap bg1="dk1" tx1="lt1" bg2="dk2" tx2="lt2" accent1="accent1" accent2="accent2" accent3="accent3" accent4="accent4" accent5="accent5" accent6="accent6" hlink="hlink" folHlink="folHlink"/>
  <p:sldLayoutIdLst>
    <p:sldLayoutId id="2147483706" r:id="rId1"/>
    <p:sldLayoutId id="2147483707" r:id="rId2"/>
    <p:sldLayoutId id="2147483708" r:id="rId3"/>
    <p:sldLayoutId id="2147483698" r:id="rId4"/>
    <p:sldLayoutId id="2147483699" r:id="rId5"/>
    <p:sldLayoutId id="2147483704" r:id="rId6"/>
    <p:sldLayoutId id="2147483700" r:id="rId7"/>
    <p:sldLayoutId id="2147483701" r:id="rId8"/>
    <p:sldLayoutId id="2147483702" r:id="rId9"/>
    <p:sldLayoutId id="2147483703" r:id="rId10"/>
    <p:sldLayoutId id="2147483705" r:id="rId11"/>
  </p:sldLayoutIdLst>
  <p:txStyles>
    <p:title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SzPct val="70000"/>
        <a:buFont typeface="Arial" panose="020B0604020202020204" pitchFamily="34" charset="0"/>
        <a:buChar char="•"/>
        <a:defRPr sz="2000" kern="1200">
          <a:solidFill>
            <a:schemeClr val="tx2"/>
          </a:solidFill>
          <a:latin typeface="+mn-lt"/>
          <a:ea typeface="+mn-ea"/>
          <a:cs typeface="+mn-cs"/>
        </a:defRPr>
      </a:lvl1pPr>
      <a:lvl2pPr marL="274320" indent="0" algn="l" defTabSz="914400" rtl="0" eaLnBrk="1" latinLnBrk="0" hangingPunct="1">
        <a:lnSpc>
          <a:spcPct val="120000"/>
        </a:lnSpc>
        <a:spcBef>
          <a:spcPts val="500"/>
        </a:spcBef>
        <a:buSzPct val="70000"/>
        <a:buFontTx/>
        <a:buNone/>
        <a:defRPr sz="1800" i="1" kern="1200">
          <a:solidFill>
            <a:schemeClr val="tx2"/>
          </a:solidFill>
          <a:latin typeface="+mn-lt"/>
          <a:ea typeface="+mn-ea"/>
          <a:cs typeface="+mn-cs"/>
        </a:defRPr>
      </a:lvl2pPr>
      <a:lvl3pPr marL="502920" indent="-228600" algn="l" defTabSz="914400" rtl="0" eaLnBrk="1" latinLnBrk="0" hangingPunct="1">
        <a:lnSpc>
          <a:spcPct val="120000"/>
        </a:lnSpc>
        <a:spcBef>
          <a:spcPts val="500"/>
        </a:spcBef>
        <a:buSzPct val="70000"/>
        <a:buFont typeface="Arial" panose="020B0604020202020204" pitchFamily="34" charset="0"/>
        <a:buChar char="•"/>
        <a:defRPr sz="1800" kern="1200">
          <a:solidFill>
            <a:schemeClr val="tx2"/>
          </a:solidFill>
          <a:latin typeface="+mn-lt"/>
          <a:ea typeface="+mn-ea"/>
          <a:cs typeface="+mn-cs"/>
        </a:defRPr>
      </a:lvl3pPr>
      <a:lvl4pPr marL="548640" indent="0" algn="l" defTabSz="914400" rtl="0" eaLnBrk="1" latinLnBrk="0" hangingPunct="1">
        <a:lnSpc>
          <a:spcPct val="120000"/>
        </a:lnSpc>
        <a:spcBef>
          <a:spcPts val="500"/>
        </a:spcBef>
        <a:buSzPct val="70000"/>
        <a:buFont typeface="Arial" panose="020B0604020202020204" pitchFamily="34" charset="0"/>
        <a:buNone/>
        <a:defRPr sz="1600" i="1" kern="1200">
          <a:solidFill>
            <a:schemeClr val="tx2"/>
          </a:solidFill>
          <a:latin typeface="+mn-lt"/>
          <a:ea typeface="+mn-ea"/>
          <a:cs typeface="+mn-cs"/>
        </a:defRPr>
      </a:lvl4pPr>
      <a:lvl5pPr marL="822960" indent="-228600" algn="l" defTabSz="914400" rtl="0" eaLnBrk="1" latinLnBrk="0" hangingPunct="1">
        <a:lnSpc>
          <a:spcPct val="120000"/>
        </a:lnSpc>
        <a:spcBef>
          <a:spcPts val="500"/>
        </a:spcBef>
        <a:buSzPct val="7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C5A67-118C-4E4F-B36D-98915F7479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Uma teia de pontos ligados">
            <a:extLst>
              <a:ext uri="{FF2B5EF4-FFF2-40B4-BE49-F238E27FC236}">
                <a16:creationId xmlns:a16="http://schemas.microsoft.com/office/drawing/2014/main" id="{3ADC3672-5A49-9D0A-6009-55B9F4CC98C6}"/>
              </a:ext>
            </a:extLst>
          </p:cNvPr>
          <p:cNvPicPr>
            <a:picLocks noChangeAspect="1"/>
          </p:cNvPicPr>
          <p:nvPr/>
        </p:nvPicPr>
        <p:blipFill>
          <a:blip r:embed="rId2">
            <a:alphaModFix amt="60000"/>
          </a:blip>
          <a:srcRect l="20199" r="-6" b="-6"/>
          <a:stretch/>
        </p:blipFill>
        <p:spPr>
          <a:xfrm>
            <a:off x="-4200" y="10"/>
            <a:ext cx="12196199" cy="6857990"/>
          </a:xfrm>
          <a:prstGeom prst="rect">
            <a:avLst/>
          </a:prstGeom>
        </p:spPr>
      </p:pic>
      <p:sp>
        <p:nvSpPr>
          <p:cNvPr id="11" name="Freeform: Shape 10">
            <a:extLst>
              <a:ext uri="{FF2B5EF4-FFF2-40B4-BE49-F238E27FC236}">
                <a16:creationId xmlns:a16="http://schemas.microsoft.com/office/drawing/2014/main" id="{820F8B35-FE0B-427D-9196-5DB8CC6971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06494" y="859953"/>
            <a:ext cx="4379010" cy="5197947"/>
          </a:xfrm>
          <a:custGeom>
            <a:avLst/>
            <a:gdLst>
              <a:gd name="connsiteX0" fmla="*/ 2209538 w 4419600"/>
              <a:gd name="connsiteY0" fmla="*/ 0 h 5246128"/>
              <a:gd name="connsiteX1" fmla="*/ 2210062 w 4419600"/>
              <a:gd name="connsiteY1" fmla="*/ 0 h 5246128"/>
              <a:gd name="connsiteX2" fmla="*/ 4419600 w 4419600"/>
              <a:gd name="connsiteY2" fmla="*/ 2209541 h 5246128"/>
              <a:gd name="connsiteX3" fmla="*/ 4419600 w 4419600"/>
              <a:gd name="connsiteY3" fmla="*/ 2480538 h 5246128"/>
              <a:gd name="connsiteX4" fmla="*/ 4419600 w 4419600"/>
              <a:gd name="connsiteY4" fmla="*/ 4975131 h 5246128"/>
              <a:gd name="connsiteX5" fmla="*/ 4419600 w 4419600"/>
              <a:gd name="connsiteY5" fmla="*/ 5246128 h 5246128"/>
              <a:gd name="connsiteX6" fmla="*/ 0 w 4419600"/>
              <a:gd name="connsiteY6" fmla="*/ 5246128 h 5246128"/>
              <a:gd name="connsiteX7" fmla="*/ 0 w 4419600"/>
              <a:gd name="connsiteY7" fmla="*/ 4975131 h 5246128"/>
              <a:gd name="connsiteX8" fmla="*/ 0 w 4419600"/>
              <a:gd name="connsiteY8" fmla="*/ 2480538 h 5246128"/>
              <a:gd name="connsiteX9" fmla="*/ 0 w 4419600"/>
              <a:gd name="connsiteY9" fmla="*/ 2209541 h 5246128"/>
              <a:gd name="connsiteX10" fmla="*/ 2209538 w 4419600"/>
              <a:gd name="connsiteY10" fmla="*/ 0 h 5246128"/>
              <a:gd name="connsiteX0" fmla="*/ 2209538 w 4419600"/>
              <a:gd name="connsiteY0" fmla="*/ 0 h 5246128"/>
              <a:gd name="connsiteX1" fmla="*/ 2210062 w 4419600"/>
              <a:gd name="connsiteY1" fmla="*/ 0 h 5246128"/>
              <a:gd name="connsiteX2" fmla="*/ 4419600 w 4419600"/>
              <a:gd name="connsiteY2" fmla="*/ 2209541 h 5246128"/>
              <a:gd name="connsiteX3" fmla="*/ 4419600 w 4419600"/>
              <a:gd name="connsiteY3" fmla="*/ 4975131 h 5246128"/>
              <a:gd name="connsiteX4" fmla="*/ 4419600 w 4419600"/>
              <a:gd name="connsiteY4" fmla="*/ 5246128 h 5246128"/>
              <a:gd name="connsiteX5" fmla="*/ 0 w 4419600"/>
              <a:gd name="connsiteY5" fmla="*/ 5246128 h 5246128"/>
              <a:gd name="connsiteX6" fmla="*/ 0 w 4419600"/>
              <a:gd name="connsiteY6" fmla="*/ 4975131 h 5246128"/>
              <a:gd name="connsiteX7" fmla="*/ 0 w 4419600"/>
              <a:gd name="connsiteY7" fmla="*/ 2480538 h 5246128"/>
              <a:gd name="connsiteX8" fmla="*/ 0 w 4419600"/>
              <a:gd name="connsiteY8" fmla="*/ 2209541 h 5246128"/>
              <a:gd name="connsiteX9" fmla="*/ 2209538 w 4419600"/>
              <a:gd name="connsiteY9" fmla="*/ 0 h 5246128"/>
              <a:gd name="connsiteX0" fmla="*/ 2209538 w 4419600"/>
              <a:gd name="connsiteY0" fmla="*/ 0 h 5246128"/>
              <a:gd name="connsiteX1" fmla="*/ 2210062 w 4419600"/>
              <a:gd name="connsiteY1" fmla="*/ 0 h 5246128"/>
              <a:gd name="connsiteX2" fmla="*/ 4419600 w 4419600"/>
              <a:gd name="connsiteY2" fmla="*/ 2209541 h 5246128"/>
              <a:gd name="connsiteX3" fmla="*/ 4419600 w 4419600"/>
              <a:gd name="connsiteY3" fmla="*/ 5246128 h 5246128"/>
              <a:gd name="connsiteX4" fmla="*/ 0 w 4419600"/>
              <a:gd name="connsiteY4" fmla="*/ 5246128 h 5246128"/>
              <a:gd name="connsiteX5" fmla="*/ 0 w 4419600"/>
              <a:gd name="connsiteY5" fmla="*/ 4975131 h 5246128"/>
              <a:gd name="connsiteX6" fmla="*/ 0 w 4419600"/>
              <a:gd name="connsiteY6" fmla="*/ 2480538 h 5246128"/>
              <a:gd name="connsiteX7" fmla="*/ 0 w 4419600"/>
              <a:gd name="connsiteY7" fmla="*/ 2209541 h 5246128"/>
              <a:gd name="connsiteX8" fmla="*/ 2209538 w 4419600"/>
              <a:gd name="connsiteY8" fmla="*/ 0 h 5246128"/>
              <a:gd name="connsiteX0" fmla="*/ 2209538 w 4419600"/>
              <a:gd name="connsiteY0" fmla="*/ 0 h 5246128"/>
              <a:gd name="connsiteX1" fmla="*/ 2210062 w 4419600"/>
              <a:gd name="connsiteY1" fmla="*/ 0 h 5246128"/>
              <a:gd name="connsiteX2" fmla="*/ 4419600 w 4419600"/>
              <a:gd name="connsiteY2" fmla="*/ 2209541 h 5246128"/>
              <a:gd name="connsiteX3" fmla="*/ 4419600 w 4419600"/>
              <a:gd name="connsiteY3" fmla="*/ 5246128 h 5246128"/>
              <a:gd name="connsiteX4" fmla="*/ 0 w 4419600"/>
              <a:gd name="connsiteY4" fmla="*/ 5246128 h 5246128"/>
              <a:gd name="connsiteX5" fmla="*/ 0 w 4419600"/>
              <a:gd name="connsiteY5" fmla="*/ 2480538 h 5246128"/>
              <a:gd name="connsiteX6" fmla="*/ 0 w 4419600"/>
              <a:gd name="connsiteY6" fmla="*/ 2209541 h 5246128"/>
              <a:gd name="connsiteX7" fmla="*/ 2209538 w 4419600"/>
              <a:gd name="connsiteY7" fmla="*/ 0 h 5246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19600" h="5246128">
                <a:moveTo>
                  <a:pt x="2209538" y="0"/>
                </a:moveTo>
                <a:lnTo>
                  <a:pt x="2210062" y="0"/>
                </a:lnTo>
                <a:cubicBezTo>
                  <a:pt x="3430375" y="0"/>
                  <a:pt x="4419600" y="989251"/>
                  <a:pt x="4419600" y="2209541"/>
                </a:cubicBezTo>
                <a:lnTo>
                  <a:pt x="4419600" y="5246128"/>
                </a:lnTo>
                <a:lnTo>
                  <a:pt x="0" y="5246128"/>
                </a:lnTo>
                <a:lnTo>
                  <a:pt x="0" y="2480538"/>
                </a:lnTo>
                <a:lnTo>
                  <a:pt x="0" y="2209541"/>
                </a:lnTo>
                <a:cubicBezTo>
                  <a:pt x="0" y="989251"/>
                  <a:pt x="989222" y="0"/>
                  <a:pt x="2209538" y="0"/>
                </a:cubicBezTo>
                <a:close/>
              </a:path>
            </a:pathLst>
          </a:custGeom>
          <a:solidFill>
            <a:srgbClr val="000000">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ítulo 1"/>
          <p:cNvSpPr>
            <a:spLocks noGrp="1"/>
          </p:cNvSpPr>
          <p:nvPr>
            <p:ph type="ctrTitle"/>
          </p:nvPr>
        </p:nvSpPr>
        <p:spPr>
          <a:xfrm>
            <a:off x="2661849" y="1921623"/>
            <a:ext cx="6868301" cy="1007316"/>
          </a:xfrm>
        </p:spPr>
        <p:txBody>
          <a:bodyPr anchor="b">
            <a:normAutofit fontScale="90000"/>
          </a:bodyPr>
          <a:lstStyle/>
          <a:p>
            <a:pPr algn="ctr"/>
            <a:r>
              <a:rPr lang="pt-PT" sz="4000">
                <a:solidFill>
                  <a:srgbClr val="FFFFFF"/>
                </a:solidFill>
                <a:latin typeface="Calibri"/>
                <a:ea typeface="Calibri"/>
                <a:cs typeface="Calibri"/>
              </a:rPr>
              <a:t>Dados e Aprendizagem Automática</a:t>
            </a:r>
            <a:endParaRPr lang="pt-PT" sz="4000"/>
          </a:p>
        </p:txBody>
      </p:sp>
      <p:sp>
        <p:nvSpPr>
          <p:cNvPr id="3" name="Subtítulo 2"/>
          <p:cNvSpPr>
            <a:spLocks noGrp="1"/>
          </p:cNvSpPr>
          <p:nvPr>
            <p:ph type="subTitle" idx="1"/>
          </p:nvPr>
        </p:nvSpPr>
        <p:spPr>
          <a:xfrm>
            <a:off x="4290521" y="3180059"/>
            <a:ext cx="3843273" cy="847166"/>
          </a:xfrm>
        </p:spPr>
        <p:txBody>
          <a:bodyPr vert="horz" lIns="91440" tIns="45720" rIns="91440" bIns="45720" rtlCol="0" anchor="t">
            <a:normAutofit fontScale="77500" lnSpcReduction="20000"/>
          </a:bodyPr>
          <a:lstStyle/>
          <a:p>
            <a:pPr algn="ctr"/>
            <a:r>
              <a:rPr lang="pt-PT" sz="2000">
                <a:solidFill>
                  <a:srgbClr val="FFFFFF"/>
                </a:solidFill>
                <a:latin typeface="Calibri"/>
                <a:ea typeface="Calibri"/>
                <a:cs typeface="Calibri"/>
              </a:rPr>
              <a:t>Conceção e otimização de modelos de </a:t>
            </a:r>
            <a:r>
              <a:rPr lang="pt-PT" sz="2000" err="1">
                <a:solidFill>
                  <a:srgbClr val="FFFFFF"/>
                </a:solidFill>
                <a:latin typeface="Calibri"/>
                <a:ea typeface="Calibri"/>
                <a:cs typeface="Calibri"/>
              </a:rPr>
              <a:t>Machine</a:t>
            </a:r>
            <a:r>
              <a:rPr lang="pt-PT" sz="2000">
                <a:solidFill>
                  <a:srgbClr val="FFFFFF"/>
                </a:solidFill>
                <a:latin typeface="Calibri"/>
                <a:ea typeface="Calibri"/>
                <a:cs typeface="Calibri"/>
              </a:rPr>
              <a:t> </a:t>
            </a:r>
            <a:r>
              <a:rPr lang="pt-PT" sz="2000" err="1">
                <a:solidFill>
                  <a:srgbClr val="FFFFFF"/>
                </a:solidFill>
                <a:latin typeface="Calibri"/>
                <a:ea typeface="Calibri"/>
                <a:cs typeface="Calibri"/>
              </a:rPr>
              <a:t>Learning</a:t>
            </a:r>
            <a:endParaRPr lang="pt-PT" sz="2000">
              <a:solidFill>
                <a:srgbClr val="FFFFFF"/>
              </a:solidFill>
              <a:latin typeface="Calibri"/>
              <a:ea typeface="Calibri"/>
              <a:cs typeface="Calibri"/>
            </a:endParaRPr>
          </a:p>
          <a:p>
            <a:pPr algn="ctr"/>
            <a:endParaRPr lang="pt-PT">
              <a:solidFill>
                <a:srgbClr val="FFFFFF"/>
              </a:solidFill>
            </a:endParaRPr>
          </a:p>
        </p:txBody>
      </p:sp>
      <p:cxnSp>
        <p:nvCxnSpPr>
          <p:cNvPr id="13" name="Straight Connector 12">
            <a:extLst>
              <a:ext uri="{FF2B5EF4-FFF2-40B4-BE49-F238E27FC236}">
                <a16:creationId xmlns:a16="http://schemas.microsoft.com/office/drawing/2014/main" id="{EF59B18A-94FC-4D49-98EB-BEC65B321A6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376602" y="4316294"/>
            <a:ext cx="1458419" cy="0"/>
          </a:xfrm>
          <a:prstGeom prst="line">
            <a:avLst/>
          </a:prstGeom>
          <a:ln w="10795">
            <a:solidFill>
              <a:srgbClr val="FFFFFF"/>
            </a:solidFill>
          </a:ln>
        </p:spPr>
        <p:style>
          <a:lnRef idx="1">
            <a:schemeClr val="accent1"/>
          </a:lnRef>
          <a:fillRef idx="0">
            <a:schemeClr val="accent1"/>
          </a:fillRef>
          <a:effectRef idx="0">
            <a:schemeClr val="accent1"/>
          </a:effectRef>
          <a:fontRef idx="minor">
            <a:schemeClr val="tx1"/>
          </a:fontRef>
        </p:style>
      </p:cxnSp>
      <p:sp>
        <p:nvSpPr>
          <p:cNvPr id="5" name="CaixaDeTexto 4">
            <a:extLst>
              <a:ext uri="{FF2B5EF4-FFF2-40B4-BE49-F238E27FC236}">
                <a16:creationId xmlns:a16="http://schemas.microsoft.com/office/drawing/2014/main" id="{9F67C41C-F1E3-8E53-41A2-BD964E74FC19}"/>
              </a:ext>
            </a:extLst>
          </p:cNvPr>
          <p:cNvSpPr txBox="1"/>
          <p:nvPr/>
        </p:nvSpPr>
        <p:spPr>
          <a:xfrm>
            <a:off x="539750" y="5397499"/>
            <a:ext cx="2508249"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PT" sz="2000" b="0" i="0">
                <a:latin typeface="Calibri"/>
                <a:ea typeface="Calibri"/>
                <a:cs typeface="Calibri"/>
              </a:rPr>
              <a:t>Guilherme Rio </a:t>
            </a:r>
            <a:endParaRPr lang="pt-PT" sz="2000">
              <a:latin typeface="Georgia Pro Light"/>
              <a:ea typeface="Calibri"/>
              <a:cs typeface="Calibri"/>
            </a:endParaRPr>
          </a:p>
          <a:p>
            <a:r>
              <a:rPr lang="pt-PT" sz="2000">
                <a:latin typeface="Calibri"/>
                <a:ea typeface="Calibri"/>
                <a:cs typeface="Calibri"/>
              </a:rPr>
              <a:t>   </a:t>
            </a:r>
            <a:r>
              <a:rPr lang="pt-PT" sz="2000" b="0" i="0">
                <a:latin typeface="Calibri"/>
                <a:ea typeface="Calibri"/>
                <a:cs typeface="Calibri"/>
              </a:rPr>
              <a:t>pg57875 </a:t>
            </a:r>
            <a:endParaRPr lang="pt-PT" sz="2000"/>
          </a:p>
        </p:txBody>
      </p:sp>
      <p:sp>
        <p:nvSpPr>
          <p:cNvPr id="6" name="CaixaDeTexto 5">
            <a:extLst>
              <a:ext uri="{FF2B5EF4-FFF2-40B4-BE49-F238E27FC236}">
                <a16:creationId xmlns:a16="http://schemas.microsoft.com/office/drawing/2014/main" id="{C82E0E98-6131-3C01-C91D-EC603B1663B5}"/>
              </a:ext>
            </a:extLst>
          </p:cNvPr>
          <p:cNvSpPr txBox="1"/>
          <p:nvPr/>
        </p:nvSpPr>
        <p:spPr>
          <a:xfrm>
            <a:off x="3820583" y="5397499"/>
            <a:ext cx="2730500" cy="9848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pt-PT" sz="2000">
                <a:latin typeface="Calibri"/>
                <a:ea typeface="Calibri"/>
                <a:cs typeface="Calibri"/>
              </a:rPr>
              <a:t>Rui Cerqueira </a:t>
            </a:r>
            <a:endParaRPr lang="pt-PT"/>
          </a:p>
          <a:p>
            <a:pPr algn="ctr"/>
            <a:r>
              <a:rPr lang="pt-PT" sz="2000">
                <a:latin typeface="Calibri"/>
                <a:ea typeface="Calibri"/>
                <a:cs typeface="Calibri"/>
              </a:rPr>
              <a:t> pg57902</a:t>
            </a:r>
            <a:endParaRPr lang="pt-PT"/>
          </a:p>
          <a:p>
            <a:pPr algn="l"/>
            <a:endParaRPr lang="pt-PT"/>
          </a:p>
        </p:txBody>
      </p:sp>
      <p:sp>
        <p:nvSpPr>
          <p:cNvPr id="10" name="CaixaDeTexto 9">
            <a:extLst>
              <a:ext uri="{FF2B5EF4-FFF2-40B4-BE49-F238E27FC236}">
                <a16:creationId xmlns:a16="http://schemas.microsoft.com/office/drawing/2014/main" id="{AACBBE8A-598F-5EB0-CB70-35F1D6DCE7AD}"/>
              </a:ext>
            </a:extLst>
          </p:cNvPr>
          <p:cNvSpPr txBox="1"/>
          <p:nvPr/>
        </p:nvSpPr>
        <p:spPr>
          <a:xfrm>
            <a:off x="7493000" y="5376333"/>
            <a:ext cx="2338916" cy="9848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pt-PT" sz="2000">
                <a:latin typeface="Calibri"/>
                <a:ea typeface="Calibri"/>
                <a:cs typeface="Calibri"/>
              </a:rPr>
              <a:t>Martim Redondo  pg57889</a:t>
            </a:r>
          </a:p>
          <a:p>
            <a:pPr algn="l"/>
            <a:endParaRPr lang="pt-PT"/>
          </a:p>
        </p:txBody>
      </p:sp>
      <p:sp>
        <p:nvSpPr>
          <p:cNvPr id="12" name="CaixaDeTexto 11">
            <a:extLst>
              <a:ext uri="{FF2B5EF4-FFF2-40B4-BE49-F238E27FC236}">
                <a16:creationId xmlns:a16="http://schemas.microsoft.com/office/drawing/2014/main" id="{742131FF-42C2-1357-DAF4-3A3E62AB5634}"/>
              </a:ext>
            </a:extLst>
          </p:cNvPr>
          <p:cNvSpPr txBox="1"/>
          <p:nvPr/>
        </p:nvSpPr>
        <p:spPr>
          <a:xfrm>
            <a:off x="10361083" y="5397500"/>
            <a:ext cx="1830916" cy="9848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pt-PT" sz="2000">
                <a:latin typeface="Calibri"/>
                <a:ea typeface="Calibri"/>
                <a:cs typeface="Calibri"/>
              </a:rPr>
              <a:t>José Monteiro pg53971</a:t>
            </a:r>
          </a:p>
          <a:p>
            <a:pPr algn="l"/>
            <a:endParaRPr lang="pt-PT"/>
          </a:p>
        </p:txBody>
      </p:sp>
    </p:spTree>
    <p:extLst>
      <p:ext uri="{BB962C8B-B14F-4D97-AF65-F5344CB8AC3E}">
        <p14:creationId xmlns:p14="http://schemas.microsoft.com/office/powerpoint/2010/main" val="9889777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FFF3E47-E150-54F9-B438-C652C794D0C1}"/>
              </a:ext>
            </a:extLst>
          </p:cNvPr>
          <p:cNvSpPr>
            <a:spLocks noGrp="1"/>
          </p:cNvSpPr>
          <p:nvPr>
            <p:ph type="title"/>
          </p:nvPr>
        </p:nvSpPr>
        <p:spPr/>
        <p:txBody>
          <a:bodyPr>
            <a:normAutofit/>
          </a:bodyPr>
          <a:lstStyle/>
          <a:p>
            <a:r>
              <a:rPr lang="pt-PT"/>
              <a:t>Introdução</a:t>
            </a:r>
          </a:p>
        </p:txBody>
      </p:sp>
      <p:sp>
        <p:nvSpPr>
          <p:cNvPr id="3" name="Marcador de Posição de Conteúdo 2">
            <a:extLst>
              <a:ext uri="{FF2B5EF4-FFF2-40B4-BE49-F238E27FC236}">
                <a16:creationId xmlns:a16="http://schemas.microsoft.com/office/drawing/2014/main" id="{93901659-FE88-3D5F-6A38-C1BD2FAE5CB2}"/>
              </a:ext>
            </a:extLst>
          </p:cNvPr>
          <p:cNvSpPr>
            <a:spLocks noGrp="1"/>
          </p:cNvSpPr>
          <p:nvPr>
            <p:ph idx="1"/>
          </p:nvPr>
        </p:nvSpPr>
        <p:spPr>
          <a:xfrm>
            <a:off x="849757" y="2356183"/>
            <a:ext cx="10427841" cy="3625515"/>
          </a:xfrm>
        </p:spPr>
        <p:txBody>
          <a:bodyPr vert="horz" lIns="91440" tIns="45720" rIns="91440" bIns="45720" rtlCol="0" anchor="t">
            <a:normAutofit/>
          </a:bodyPr>
          <a:lstStyle/>
          <a:p>
            <a:r>
              <a:rPr lang="pt-PT" dirty="0">
                <a:latin typeface="Georgia Pro Light"/>
                <a:ea typeface="Calibri"/>
                <a:cs typeface="Calibri"/>
              </a:rPr>
              <a:t>Neste projeto foi-nos proposto utilizar as técnicas de Aprendizagem Automática (</a:t>
            </a:r>
            <a:r>
              <a:rPr lang="pt-PT" i="1" dirty="0" err="1">
                <a:latin typeface="Georgia Pro Light"/>
                <a:ea typeface="Calibri"/>
                <a:cs typeface="Calibri"/>
              </a:rPr>
              <a:t>Machine</a:t>
            </a:r>
            <a:r>
              <a:rPr lang="pt-PT" i="1" dirty="0">
                <a:latin typeface="Georgia Pro Light"/>
                <a:ea typeface="Calibri"/>
                <a:cs typeface="Calibri"/>
              </a:rPr>
              <a:t> </a:t>
            </a:r>
            <a:r>
              <a:rPr lang="pt-PT" i="1" dirty="0" err="1">
                <a:latin typeface="Georgia Pro Light"/>
                <a:ea typeface="Calibri"/>
                <a:cs typeface="Calibri"/>
              </a:rPr>
              <a:t>Learning</a:t>
            </a:r>
            <a:r>
              <a:rPr lang="pt-PT" dirty="0">
                <a:latin typeface="Georgia Pro Light"/>
                <a:ea typeface="Calibri"/>
                <a:cs typeface="Calibri"/>
              </a:rPr>
              <a:t>) que cobrimos durante o semestre para desenvolver um modelo capaz de analisar e classificar a evolução da saúde mental dos pacientes, utilizando conjuntos de dados extraídos de imagens de ressonância magnética (MRI).</a:t>
            </a:r>
          </a:p>
          <a:p>
            <a:pPr>
              <a:lnSpc>
                <a:spcPct val="100000"/>
              </a:lnSpc>
            </a:pPr>
            <a:r>
              <a:rPr lang="pt-PT" dirty="0">
                <a:latin typeface="Georgia Pro Light"/>
                <a:ea typeface="Calibri"/>
                <a:cs typeface="Calibri"/>
              </a:rPr>
              <a:t>Outro objetivo neste projeto é, também, entender a relevância de diferentes regiões cerebrais, neste caso o hipocampo e o lobo occipital, na previsão de doenças como a de Alzheimer.</a:t>
            </a:r>
            <a:endParaRPr lang="pt-PT" dirty="0">
              <a:latin typeface="Georgia Pro Light"/>
            </a:endParaRPr>
          </a:p>
          <a:p>
            <a:r>
              <a:rPr lang="pt-PT" dirty="0">
                <a:latin typeface="Georgia Pro Light"/>
                <a:ea typeface="+mn-lt"/>
                <a:cs typeface="+mn-lt"/>
              </a:rPr>
              <a:t>A metodologia que implementamos para a realização do projeto foi a CRISP-DM. De forma a seguir esta estrutura da melhor forma </a:t>
            </a:r>
            <a:r>
              <a:rPr lang="pt-PT" dirty="0">
                <a:latin typeface="Georgia Pro Light"/>
                <a:ea typeface="Calibri"/>
                <a:cs typeface="Calibri"/>
              </a:rPr>
              <a:t>possível, dividimos o código nas várias etapas que existem, para que também a sua leitura e compreensão seja mais fácil.</a:t>
            </a:r>
            <a:endParaRPr lang="pt-PT" dirty="0">
              <a:latin typeface="Georgia Pro Light"/>
            </a:endParaRPr>
          </a:p>
        </p:txBody>
      </p:sp>
    </p:spTree>
    <p:extLst>
      <p:ext uri="{BB962C8B-B14F-4D97-AF65-F5344CB8AC3E}">
        <p14:creationId xmlns:p14="http://schemas.microsoft.com/office/powerpoint/2010/main" val="15957158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218EFAF-64EF-E33C-E4DA-8C51F32F4A69}"/>
              </a:ext>
            </a:extLst>
          </p:cNvPr>
          <p:cNvSpPr>
            <a:spLocks noGrp="1"/>
          </p:cNvSpPr>
          <p:nvPr>
            <p:ph type="title"/>
          </p:nvPr>
        </p:nvSpPr>
        <p:spPr/>
        <p:txBody>
          <a:bodyPr/>
          <a:lstStyle/>
          <a:p>
            <a:r>
              <a:rPr lang="pt-PT" dirty="0"/>
              <a:t>Descrição dos </a:t>
            </a:r>
            <a:r>
              <a:rPr lang="pt-PT" dirty="0" err="1"/>
              <a:t>datasets</a:t>
            </a:r>
          </a:p>
        </p:txBody>
      </p:sp>
      <p:sp>
        <p:nvSpPr>
          <p:cNvPr id="3" name="Marcador de Posição de Conteúdo 2">
            <a:extLst>
              <a:ext uri="{FF2B5EF4-FFF2-40B4-BE49-F238E27FC236}">
                <a16:creationId xmlns:a16="http://schemas.microsoft.com/office/drawing/2014/main" id="{1D87CFB4-859D-925D-DABF-F5FF8CBD0B4B}"/>
              </a:ext>
            </a:extLst>
          </p:cNvPr>
          <p:cNvSpPr>
            <a:spLocks noGrp="1"/>
          </p:cNvSpPr>
          <p:nvPr>
            <p:ph idx="1"/>
          </p:nvPr>
        </p:nvSpPr>
        <p:spPr>
          <a:xfrm>
            <a:off x="849758" y="2634801"/>
            <a:ext cx="10427841" cy="3903298"/>
          </a:xfrm>
        </p:spPr>
        <p:txBody>
          <a:bodyPr vert="horz" lIns="91440" tIns="45720" rIns="91440" bIns="45720" rtlCol="0" anchor="t">
            <a:normAutofit/>
          </a:bodyPr>
          <a:lstStyle/>
          <a:p>
            <a:r>
              <a:rPr lang="pt-PT" dirty="0">
                <a:ea typeface="+mn-lt"/>
                <a:cs typeface="+mn-lt"/>
              </a:rPr>
              <a:t>Foram disponibilizados dois </a:t>
            </a:r>
            <a:r>
              <a:rPr lang="pt-PT" dirty="0" err="1">
                <a:ea typeface="+mn-lt"/>
                <a:cs typeface="+mn-lt"/>
              </a:rPr>
              <a:t>datasets</a:t>
            </a:r>
            <a:r>
              <a:rPr lang="pt-PT" dirty="0">
                <a:ea typeface="+mn-lt"/>
                <a:cs typeface="+mn-lt"/>
              </a:rPr>
              <a:t>: zona do hipocampo e zona do lobo occipital;</a:t>
            </a:r>
            <a:endParaRPr lang="pt-PT" dirty="0" err="1">
              <a:ea typeface="+mn-lt"/>
              <a:cs typeface="+mn-lt"/>
            </a:endParaRPr>
          </a:p>
          <a:p>
            <a:r>
              <a:rPr lang="pt-PT" dirty="0">
                <a:ea typeface="+mn-lt"/>
                <a:cs typeface="+mn-lt"/>
              </a:rPr>
              <a:t>Ambos são compostos pelos mesmos atributos: ID, Sexo, Idade, características </a:t>
            </a:r>
            <a:r>
              <a:rPr lang="pt-PT" dirty="0" err="1">
                <a:ea typeface="+mn-lt"/>
                <a:cs typeface="+mn-lt"/>
              </a:rPr>
              <a:t>radiómicas</a:t>
            </a:r>
            <a:r>
              <a:rPr lang="pt-PT" dirty="0">
                <a:ea typeface="+mn-lt"/>
                <a:cs typeface="+mn-lt"/>
              </a:rPr>
              <a:t> e </a:t>
            </a:r>
            <a:r>
              <a:rPr lang="pt-PT" dirty="0" err="1">
                <a:ea typeface="+mn-lt"/>
                <a:cs typeface="+mn-lt"/>
              </a:rPr>
              <a:t>Transition</a:t>
            </a:r>
            <a:r>
              <a:rPr lang="pt-PT" dirty="0">
                <a:ea typeface="+mn-lt"/>
                <a:cs typeface="+mn-lt"/>
              </a:rPr>
              <a:t>;</a:t>
            </a:r>
          </a:p>
          <a:p>
            <a:r>
              <a:rPr lang="pt-PT" dirty="0" err="1"/>
              <a:t>Caracteristicas</a:t>
            </a:r>
            <a:r>
              <a:rPr lang="pt-PT" dirty="0"/>
              <a:t> </a:t>
            </a:r>
            <a:r>
              <a:rPr lang="pt-PT" dirty="0" err="1"/>
              <a:t>radiómicas</a:t>
            </a:r>
            <a:r>
              <a:rPr lang="pt-PT" dirty="0"/>
              <a:t> estão divididas por classes (</a:t>
            </a:r>
            <a:r>
              <a:rPr lang="pt-PT" dirty="0" err="1"/>
              <a:t>ex</a:t>
            </a:r>
            <a:r>
              <a:rPr lang="pt-PT" dirty="0"/>
              <a:t>: </a:t>
            </a:r>
            <a:r>
              <a:rPr lang="pt-PT" i="1" dirty="0" err="1"/>
              <a:t>First</a:t>
            </a:r>
            <a:r>
              <a:rPr lang="pt-PT" i="1" dirty="0"/>
              <a:t> </a:t>
            </a:r>
            <a:r>
              <a:rPr lang="pt-PT" i="1" dirty="0" err="1"/>
              <a:t>Order</a:t>
            </a:r>
            <a:r>
              <a:rPr lang="pt-PT" dirty="0"/>
              <a:t>, </a:t>
            </a:r>
            <a:r>
              <a:rPr lang="pt-PT" i="1" dirty="0"/>
              <a:t>Shape-</a:t>
            </a:r>
            <a:r>
              <a:rPr lang="pt-PT" i="1" dirty="0" err="1"/>
              <a:t>based</a:t>
            </a:r>
            <a:r>
              <a:rPr lang="pt-PT" i="1" dirty="0"/>
              <a:t>(2D e 3D)</a:t>
            </a:r>
            <a:r>
              <a:rPr lang="pt-PT" dirty="0"/>
              <a:t>);</a:t>
            </a:r>
          </a:p>
          <a:p>
            <a:r>
              <a:rPr lang="pt-PT" dirty="0"/>
              <a:t>Estão também representadas com vários filtros(</a:t>
            </a:r>
            <a:r>
              <a:rPr lang="pt-PT" err="1"/>
              <a:t>ex</a:t>
            </a:r>
            <a:r>
              <a:rPr lang="pt-PT" dirty="0"/>
              <a:t>: </a:t>
            </a:r>
            <a:r>
              <a:rPr lang="pt-PT" i="1" err="1"/>
              <a:t>Wavelet</a:t>
            </a:r>
            <a:r>
              <a:rPr lang="pt-PT" i="1" dirty="0"/>
              <a:t>, </a:t>
            </a:r>
            <a:r>
              <a:rPr lang="pt-PT" i="1" err="1"/>
              <a:t>Laplaciano</a:t>
            </a:r>
            <a:r>
              <a:rPr lang="pt-PT" i="1" dirty="0"/>
              <a:t> de Gaussiano(</a:t>
            </a:r>
            <a:r>
              <a:rPr lang="pt-PT" i="1" err="1"/>
              <a:t>LoG</a:t>
            </a:r>
            <a:r>
              <a:rPr lang="pt-PT" i="1" dirty="0"/>
              <a:t>)</a:t>
            </a:r>
            <a:r>
              <a:rPr lang="pt-PT" dirty="0"/>
              <a:t>);</a:t>
            </a:r>
          </a:p>
        </p:txBody>
      </p:sp>
    </p:spTree>
    <p:extLst>
      <p:ext uri="{BB962C8B-B14F-4D97-AF65-F5344CB8AC3E}">
        <p14:creationId xmlns:p14="http://schemas.microsoft.com/office/powerpoint/2010/main" val="1228581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39C50E3-3AE0-DEB3-AE8D-E9B029BABD81}"/>
              </a:ext>
            </a:extLst>
          </p:cNvPr>
          <p:cNvSpPr>
            <a:spLocks noGrp="1"/>
          </p:cNvSpPr>
          <p:nvPr>
            <p:ph type="title"/>
          </p:nvPr>
        </p:nvSpPr>
        <p:spPr>
          <a:xfrm>
            <a:off x="642932" y="615045"/>
            <a:ext cx="10427840" cy="1086056"/>
          </a:xfrm>
        </p:spPr>
        <p:txBody>
          <a:bodyPr/>
          <a:lstStyle/>
          <a:p>
            <a:r>
              <a:rPr lang="pt-PT"/>
              <a:t>Análise dos dados</a:t>
            </a:r>
          </a:p>
        </p:txBody>
      </p:sp>
      <p:graphicFrame>
        <p:nvGraphicFramePr>
          <p:cNvPr id="4" name="Marcador de Posição de Conteúdo 3">
            <a:extLst>
              <a:ext uri="{FF2B5EF4-FFF2-40B4-BE49-F238E27FC236}">
                <a16:creationId xmlns:a16="http://schemas.microsoft.com/office/drawing/2014/main" id="{A46FC1D4-9D31-2C5C-09A1-1A3CE308E46D}"/>
              </a:ext>
            </a:extLst>
          </p:cNvPr>
          <p:cNvGraphicFramePr>
            <a:graphicFrameLocks noGrp="1"/>
          </p:cNvGraphicFramePr>
          <p:nvPr>
            <p:ph idx="1"/>
            <p:extLst>
              <p:ext uri="{D42A27DB-BD31-4B8C-83A1-F6EECF244321}">
                <p14:modId xmlns:p14="http://schemas.microsoft.com/office/powerpoint/2010/main" val="2604442040"/>
              </p:ext>
            </p:extLst>
          </p:nvPr>
        </p:nvGraphicFramePr>
        <p:xfrm>
          <a:off x="1850640" y="2068287"/>
          <a:ext cx="7511074" cy="3262007"/>
        </p:xfrm>
        <a:graphic>
          <a:graphicData uri="http://schemas.openxmlformats.org/drawingml/2006/table">
            <a:tbl>
              <a:tblPr firstRow="1" firstCol="1" bandRow="1">
                <a:tableStyleId>{5C22544A-7EE6-4342-B048-85BDC9FD1C3A}</a:tableStyleId>
              </a:tblPr>
              <a:tblGrid>
                <a:gridCol w="4483652">
                  <a:extLst>
                    <a:ext uri="{9D8B030D-6E8A-4147-A177-3AD203B41FA5}">
                      <a16:colId xmlns:a16="http://schemas.microsoft.com/office/drawing/2014/main" val="3522862979"/>
                    </a:ext>
                  </a:extLst>
                </a:gridCol>
                <a:gridCol w="3027422">
                  <a:extLst>
                    <a:ext uri="{9D8B030D-6E8A-4147-A177-3AD203B41FA5}">
                      <a16:colId xmlns:a16="http://schemas.microsoft.com/office/drawing/2014/main" val="2829288503"/>
                    </a:ext>
                  </a:extLst>
                </a:gridCol>
              </a:tblGrid>
              <a:tr h="369712">
                <a:tc>
                  <a:txBody>
                    <a:bodyPr/>
                    <a:lstStyle/>
                    <a:p>
                      <a:pPr>
                        <a:lnSpc>
                          <a:spcPct val="116000"/>
                        </a:lnSpc>
                        <a:spcAft>
                          <a:spcPts val="800"/>
                        </a:spcAft>
                      </a:pPr>
                      <a:r>
                        <a:rPr lang="pt-PT" sz="1200">
                          <a:effectLst/>
                          <a:latin typeface="Aptos" panose="020B0004020202020204" pitchFamily="34" charset="0"/>
                          <a:ea typeface="Aptos" panose="020B0004020202020204" pitchFamily="34" charset="0"/>
                          <a:cs typeface="Times New Roman" panose="02020603050405020304" pitchFamily="18" charset="0"/>
                        </a:rPr>
                        <a:t>Casos em Estudo</a:t>
                      </a:r>
                    </a:p>
                  </a:txBody>
                  <a:tcPr marL="68580" marR="68580" marT="0" marB="0"/>
                </a:tc>
                <a:tc>
                  <a:txBody>
                    <a:bodyPr/>
                    <a:lstStyle/>
                    <a:p>
                      <a:pPr>
                        <a:lnSpc>
                          <a:spcPct val="116000"/>
                        </a:lnSpc>
                        <a:spcAft>
                          <a:spcPts val="800"/>
                        </a:spcAft>
                      </a:pPr>
                      <a:r>
                        <a:rPr lang="pt-PT" sz="1200">
                          <a:effectLst/>
                          <a:latin typeface="Aptos" panose="020B0004020202020204" pitchFamily="34" charset="0"/>
                          <a:ea typeface="Aptos" panose="020B0004020202020204" pitchFamily="34" charset="0"/>
                          <a:cs typeface="Times New Roman" panose="02020603050405020304" pitchFamily="18" charset="0"/>
                        </a:rPr>
                        <a:t>Resultados</a:t>
                      </a:r>
                    </a:p>
                  </a:txBody>
                  <a:tcPr marL="68580" marR="68580" marT="0" marB="0"/>
                </a:tc>
                <a:extLst>
                  <a:ext uri="{0D108BD9-81ED-4DB2-BD59-A6C34878D82A}">
                    <a16:rowId xmlns:a16="http://schemas.microsoft.com/office/drawing/2014/main" val="1219011046"/>
                  </a:ext>
                </a:extLst>
              </a:tr>
              <a:tr h="369712">
                <a:tc>
                  <a:txBody>
                    <a:bodyPr/>
                    <a:lstStyle/>
                    <a:p>
                      <a:pPr>
                        <a:lnSpc>
                          <a:spcPct val="116000"/>
                        </a:lnSpc>
                        <a:spcAft>
                          <a:spcPts val="800"/>
                        </a:spcAft>
                      </a:pPr>
                      <a:r>
                        <a:rPr lang="pt-PT" sz="1200">
                          <a:effectLst/>
                        </a:rPr>
                        <a:t>Quantidade de </a:t>
                      </a:r>
                      <a:r>
                        <a:rPr lang="pt-PT" sz="1200" err="1">
                          <a:effectLst/>
                        </a:rPr>
                        <a:t>Missing</a:t>
                      </a:r>
                      <a:r>
                        <a:rPr lang="pt-PT" sz="1200">
                          <a:effectLst/>
                        </a:rPr>
                        <a:t> </a:t>
                      </a:r>
                      <a:r>
                        <a:rPr lang="pt-PT" sz="1200" err="1">
                          <a:effectLst/>
                        </a:rPr>
                        <a:t>Values</a:t>
                      </a:r>
                      <a:endParaRPr lang="pt-PT" sz="1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6000"/>
                        </a:lnSpc>
                        <a:spcAft>
                          <a:spcPts val="800"/>
                        </a:spcAft>
                      </a:pPr>
                      <a:r>
                        <a:rPr lang="pt-PT" sz="1200">
                          <a:effectLst/>
                        </a:rPr>
                        <a:t>0</a:t>
                      </a:r>
                      <a:endParaRPr lang="pt-PT" sz="1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91518106"/>
                  </a:ext>
                </a:extLst>
              </a:tr>
              <a:tr h="364009">
                <a:tc>
                  <a:txBody>
                    <a:bodyPr/>
                    <a:lstStyle/>
                    <a:p>
                      <a:pPr>
                        <a:lnSpc>
                          <a:spcPct val="116000"/>
                        </a:lnSpc>
                        <a:spcAft>
                          <a:spcPts val="800"/>
                        </a:spcAft>
                      </a:pPr>
                      <a:r>
                        <a:rPr lang="pt-PT" sz="1200">
                          <a:effectLst/>
                        </a:rPr>
                        <a:t>Quantidade de linhas duplicadas</a:t>
                      </a:r>
                      <a:endParaRPr lang="pt-PT" sz="1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6000"/>
                        </a:lnSpc>
                        <a:spcAft>
                          <a:spcPts val="800"/>
                        </a:spcAft>
                      </a:pPr>
                      <a:r>
                        <a:rPr lang="pt-PT" sz="1200">
                          <a:effectLst/>
                        </a:rPr>
                        <a:t>0</a:t>
                      </a:r>
                      <a:endParaRPr lang="pt-PT" sz="1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83844393"/>
                  </a:ext>
                </a:extLst>
              </a:tr>
              <a:tr h="364009">
                <a:tc>
                  <a:txBody>
                    <a:bodyPr/>
                    <a:lstStyle/>
                    <a:p>
                      <a:pPr>
                        <a:lnSpc>
                          <a:spcPct val="116000"/>
                        </a:lnSpc>
                        <a:spcAft>
                          <a:spcPts val="800"/>
                        </a:spcAft>
                      </a:pPr>
                      <a:r>
                        <a:rPr lang="pt-PT" sz="1200">
                          <a:effectLst/>
                        </a:rPr>
                        <a:t>Quantidade de colunas duplicadas</a:t>
                      </a:r>
                      <a:endParaRPr lang="pt-PT" sz="1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6000"/>
                        </a:lnSpc>
                        <a:spcAft>
                          <a:spcPts val="800"/>
                        </a:spcAft>
                      </a:pPr>
                      <a:r>
                        <a:rPr lang="pt-PT" sz="1200">
                          <a:effectLst/>
                        </a:rPr>
                        <a:t>253</a:t>
                      </a:r>
                      <a:endParaRPr lang="pt-PT" sz="1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46424193"/>
                  </a:ext>
                </a:extLst>
              </a:tr>
              <a:tr h="338529">
                <a:tc>
                  <a:txBody>
                    <a:bodyPr/>
                    <a:lstStyle/>
                    <a:p>
                      <a:pPr>
                        <a:lnSpc>
                          <a:spcPct val="116000"/>
                        </a:lnSpc>
                        <a:spcAft>
                          <a:spcPts val="800"/>
                        </a:spcAft>
                      </a:pPr>
                      <a:r>
                        <a:rPr lang="pt-PT" sz="1200">
                          <a:effectLst/>
                        </a:rPr>
                        <a:t>Quantidade de linhas nulas</a:t>
                      </a:r>
                      <a:endParaRPr lang="pt-PT" sz="1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6000"/>
                        </a:lnSpc>
                        <a:spcAft>
                          <a:spcPts val="800"/>
                        </a:spcAft>
                      </a:pPr>
                      <a:r>
                        <a:rPr lang="pt-PT" sz="1200">
                          <a:effectLst/>
                        </a:rPr>
                        <a:t>0</a:t>
                      </a:r>
                      <a:endParaRPr lang="pt-PT" sz="1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18715604"/>
                  </a:ext>
                </a:extLst>
              </a:tr>
              <a:tr h="364009">
                <a:tc>
                  <a:txBody>
                    <a:bodyPr/>
                    <a:lstStyle/>
                    <a:p>
                      <a:pPr>
                        <a:lnSpc>
                          <a:spcPct val="116000"/>
                        </a:lnSpc>
                        <a:spcAft>
                          <a:spcPts val="800"/>
                        </a:spcAft>
                      </a:pPr>
                      <a:r>
                        <a:rPr lang="pt-PT" sz="1200">
                          <a:effectLst/>
                        </a:rPr>
                        <a:t>Quantidade de colunas nulas</a:t>
                      </a:r>
                      <a:endParaRPr lang="pt-PT" sz="1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6000"/>
                        </a:lnSpc>
                        <a:spcAft>
                          <a:spcPts val="800"/>
                        </a:spcAft>
                      </a:pPr>
                      <a:r>
                        <a:rPr lang="pt-PT" sz="1200">
                          <a:effectLst/>
                        </a:rPr>
                        <a:t>0</a:t>
                      </a:r>
                      <a:endParaRPr lang="pt-PT" sz="1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09231910"/>
                  </a:ext>
                </a:extLst>
              </a:tr>
              <a:tr h="364009">
                <a:tc>
                  <a:txBody>
                    <a:bodyPr/>
                    <a:lstStyle/>
                    <a:p>
                      <a:pPr>
                        <a:lnSpc>
                          <a:spcPct val="116000"/>
                        </a:lnSpc>
                        <a:spcAft>
                          <a:spcPts val="800"/>
                        </a:spcAft>
                      </a:pPr>
                      <a:r>
                        <a:rPr lang="pt-PT" sz="1200">
                          <a:effectLst/>
                        </a:rPr>
                        <a:t>Quantidade de colunas do tipo int</a:t>
                      </a:r>
                      <a:endParaRPr lang="pt-PT" sz="1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6000"/>
                        </a:lnSpc>
                        <a:spcAft>
                          <a:spcPts val="800"/>
                        </a:spcAft>
                      </a:pPr>
                      <a:r>
                        <a:rPr lang="pt-PT" sz="1200">
                          <a:effectLst/>
                        </a:rPr>
                        <a:t>147</a:t>
                      </a:r>
                      <a:endParaRPr lang="pt-PT" sz="1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91610297"/>
                  </a:ext>
                </a:extLst>
              </a:tr>
              <a:tr h="364009">
                <a:tc>
                  <a:txBody>
                    <a:bodyPr/>
                    <a:lstStyle/>
                    <a:p>
                      <a:pPr>
                        <a:lnSpc>
                          <a:spcPct val="116000"/>
                        </a:lnSpc>
                        <a:spcAft>
                          <a:spcPts val="800"/>
                        </a:spcAft>
                      </a:pPr>
                      <a:r>
                        <a:rPr lang="pt-PT" sz="1200">
                          <a:effectLst/>
                        </a:rPr>
                        <a:t>Quantidade de colunas de tipo float64</a:t>
                      </a:r>
                      <a:endParaRPr lang="pt-PT" sz="1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6000"/>
                        </a:lnSpc>
                        <a:spcAft>
                          <a:spcPts val="800"/>
                        </a:spcAft>
                      </a:pPr>
                      <a:r>
                        <a:rPr lang="pt-PT" sz="1200">
                          <a:effectLst/>
                        </a:rPr>
                        <a:t>2014</a:t>
                      </a:r>
                      <a:endParaRPr lang="pt-PT" sz="1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95905721"/>
                  </a:ext>
                </a:extLst>
              </a:tr>
              <a:tr h="364009">
                <a:tc>
                  <a:txBody>
                    <a:bodyPr/>
                    <a:lstStyle/>
                    <a:p>
                      <a:pPr>
                        <a:lnSpc>
                          <a:spcPct val="116000"/>
                        </a:lnSpc>
                        <a:spcAft>
                          <a:spcPts val="800"/>
                        </a:spcAft>
                      </a:pPr>
                      <a:r>
                        <a:rPr lang="pt-PT" sz="1200">
                          <a:effectLst/>
                        </a:rPr>
                        <a:t>Quantidade de colunas do tipo categórico</a:t>
                      </a:r>
                      <a:endParaRPr lang="pt-PT" sz="1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6000"/>
                        </a:lnSpc>
                        <a:spcAft>
                          <a:spcPts val="800"/>
                        </a:spcAft>
                      </a:pPr>
                      <a:r>
                        <a:rPr lang="pt-PT" sz="1200">
                          <a:effectLst/>
                        </a:rPr>
                        <a:t>20</a:t>
                      </a:r>
                      <a:endParaRPr lang="pt-PT" sz="1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36973615"/>
                  </a:ext>
                </a:extLst>
              </a:tr>
            </a:tbl>
          </a:graphicData>
        </a:graphic>
      </p:graphicFrame>
    </p:spTree>
    <p:extLst>
      <p:ext uri="{BB962C8B-B14F-4D97-AF65-F5344CB8AC3E}">
        <p14:creationId xmlns:p14="http://schemas.microsoft.com/office/powerpoint/2010/main" val="7937448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8682F84-B6EA-689F-5E2B-168E0D48015C}"/>
              </a:ext>
            </a:extLst>
          </p:cNvPr>
          <p:cNvSpPr>
            <a:spLocks noGrp="1"/>
          </p:cNvSpPr>
          <p:nvPr>
            <p:ph type="title"/>
          </p:nvPr>
        </p:nvSpPr>
        <p:spPr>
          <a:xfrm>
            <a:off x="261932" y="288473"/>
            <a:ext cx="10427840" cy="1086056"/>
          </a:xfrm>
        </p:spPr>
        <p:txBody>
          <a:bodyPr>
            <a:normAutofit fontScale="90000"/>
          </a:bodyPr>
          <a:lstStyle/>
          <a:p>
            <a:r>
              <a:rPr lang="pt-PT" err="1"/>
              <a:t>Barchart</a:t>
            </a:r>
            <a:r>
              <a:rPr lang="pt-PT"/>
              <a:t> (análise de atributos individualmente)</a:t>
            </a:r>
          </a:p>
        </p:txBody>
      </p:sp>
      <p:sp>
        <p:nvSpPr>
          <p:cNvPr id="8" name="Retângulo 7">
            <a:extLst>
              <a:ext uri="{FF2B5EF4-FFF2-40B4-BE49-F238E27FC236}">
                <a16:creationId xmlns:a16="http://schemas.microsoft.com/office/drawing/2014/main" id="{AA7CFC1F-63CB-327D-3798-C8EAD011E175}"/>
              </a:ext>
            </a:extLst>
          </p:cNvPr>
          <p:cNvSpPr/>
          <p:nvPr/>
        </p:nvSpPr>
        <p:spPr>
          <a:xfrm>
            <a:off x="1725325" y="1994057"/>
            <a:ext cx="4031882" cy="3267323"/>
          </a:xfrm>
          <a:prstGeom prst="rect">
            <a:avLst/>
          </a:prstGeom>
          <a:solidFill>
            <a:srgbClr val="262626"/>
          </a:solidFill>
          <a:ln w="38100">
            <a:solidFill>
              <a:srgbClr val="C09A8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p>
        </p:txBody>
      </p:sp>
      <p:pic>
        <p:nvPicPr>
          <p:cNvPr id="4" name="Imagem 3" descr="Uma imagem com texto, captura de ecrã, Retângulo, diagrama&#10;&#10;Descrição gerada automaticamente">
            <a:extLst>
              <a:ext uri="{FF2B5EF4-FFF2-40B4-BE49-F238E27FC236}">
                <a16:creationId xmlns:a16="http://schemas.microsoft.com/office/drawing/2014/main" id="{80382D60-0DF6-D590-2C32-88A494500E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1826" y="2095679"/>
            <a:ext cx="3838880" cy="3102097"/>
          </a:xfrm>
          <a:prstGeom prst="rect">
            <a:avLst/>
          </a:prstGeom>
        </p:spPr>
      </p:pic>
      <p:sp>
        <p:nvSpPr>
          <p:cNvPr id="9" name="Retângulo 8">
            <a:extLst>
              <a:ext uri="{FF2B5EF4-FFF2-40B4-BE49-F238E27FC236}">
                <a16:creationId xmlns:a16="http://schemas.microsoft.com/office/drawing/2014/main" id="{2CBA5E68-115D-F35D-9CC6-46FF87F5C5B9}"/>
              </a:ext>
            </a:extLst>
          </p:cNvPr>
          <p:cNvSpPr/>
          <p:nvPr/>
        </p:nvSpPr>
        <p:spPr>
          <a:xfrm>
            <a:off x="6656438" y="1843061"/>
            <a:ext cx="4091053" cy="3469593"/>
          </a:xfrm>
          <a:prstGeom prst="rect">
            <a:avLst/>
          </a:prstGeom>
          <a:solidFill>
            <a:srgbClr val="262626"/>
          </a:solidFill>
          <a:ln w="38100">
            <a:solidFill>
              <a:srgbClr val="C09A8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p>
        </p:txBody>
      </p:sp>
      <p:pic>
        <p:nvPicPr>
          <p:cNvPr id="7" name="Imagem 6" descr="Uma imagem com diagrama, captura de ecrã, Gráfico, file&#10;&#10;Descrição gerada automaticamente">
            <a:extLst>
              <a:ext uri="{FF2B5EF4-FFF2-40B4-BE49-F238E27FC236}">
                <a16:creationId xmlns:a16="http://schemas.microsoft.com/office/drawing/2014/main" id="{19157216-927B-2CAF-B2AF-5EDD3D0467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14158" y="1884764"/>
            <a:ext cx="3975614" cy="3313012"/>
          </a:xfrm>
          <a:prstGeom prst="rect">
            <a:avLst/>
          </a:prstGeom>
        </p:spPr>
      </p:pic>
    </p:spTree>
    <p:extLst>
      <p:ext uri="{BB962C8B-B14F-4D97-AF65-F5344CB8AC3E}">
        <p14:creationId xmlns:p14="http://schemas.microsoft.com/office/powerpoint/2010/main" val="36394330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8FE3E6-4A12-9152-1C58-52C8E4FEF788}"/>
              </a:ext>
            </a:extLst>
          </p:cNvPr>
          <p:cNvSpPr>
            <a:spLocks noGrp="1"/>
          </p:cNvSpPr>
          <p:nvPr>
            <p:ph type="title"/>
          </p:nvPr>
        </p:nvSpPr>
        <p:spPr>
          <a:xfrm>
            <a:off x="436103" y="517073"/>
            <a:ext cx="10427840" cy="1086056"/>
          </a:xfrm>
        </p:spPr>
        <p:txBody>
          <a:bodyPr>
            <a:normAutofit/>
          </a:bodyPr>
          <a:lstStyle/>
          <a:p>
            <a:r>
              <a:rPr lang="pt-PT"/>
              <a:t>Gráficos de atributos relacionados</a:t>
            </a:r>
          </a:p>
        </p:txBody>
      </p:sp>
      <p:sp>
        <p:nvSpPr>
          <p:cNvPr id="6" name="Retângulo 5">
            <a:extLst>
              <a:ext uri="{FF2B5EF4-FFF2-40B4-BE49-F238E27FC236}">
                <a16:creationId xmlns:a16="http://schemas.microsoft.com/office/drawing/2014/main" id="{8CC7E62C-9F38-8239-DD1D-6297924DFB44}"/>
              </a:ext>
            </a:extLst>
          </p:cNvPr>
          <p:cNvSpPr/>
          <p:nvPr/>
        </p:nvSpPr>
        <p:spPr>
          <a:xfrm>
            <a:off x="263993" y="2247544"/>
            <a:ext cx="5906071" cy="2375731"/>
          </a:xfrm>
          <a:prstGeom prst="rect">
            <a:avLst/>
          </a:prstGeom>
          <a:solidFill>
            <a:srgbClr val="262626"/>
          </a:solidFill>
          <a:ln w="38100">
            <a:solidFill>
              <a:srgbClr val="C09A8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p>
        </p:txBody>
      </p:sp>
      <p:pic>
        <p:nvPicPr>
          <p:cNvPr id="4" name="Imagem 3" descr="Uma imagem com diagrama, Retângulo, file, captura de ecrã&#10;&#10;Descrição gerada automaticamente">
            <a:extLst>
              <a:ext uri="{FF2B5EF4-FFF2-40B4-BE49-F238E27FC236}">
                <a16:creationId xmlns:a16="http://schemas.microsoft.com/office/drawing/2014/main" id="{03A6A2A1-3B35-ED0D-F430-2DC8DDE179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170" y="2323465"/>
            <a:ext cx="5731510" cy="2211070"/>
          </a:xfrm>
          <a:prstGeom prst="rect">
            <a:avLst/>
          </a:prstGeom>
        </p:spPr>
      </p:pic>
      <p:sp>
        <p:nvSpPr>
          <p:cNvPr id="7" name="Retângulo 6">
            <a:extLst>
              <a:ext uri="{FF2B5EF4-FFF2-40B4-BE49-F238E27FC236}">
                <a16:creationId xmlns:a16="http://schemas.microsoft.com/office/drawing/2014/main" id="{C2DD4FD5-D189-05FB-92ED-CA8D5C41F776}"/>
              </a:ext>
            </a:extLst>
          </p:cNvPr>
          <p:cNvSpPr/>
          <p:nvPr/>
        </p:nvSpPr>
        <p:spPr>
          <a:xfrm>
            <a:off x="6170064" y="2247544"/>
            <a:ext cx="5906071" cy="2375731"/>
          </a:xfrm>
          <a:prstGeom prst="rect">
            <a:avLst/>
          </a:prstGeom>
          <a:solidFill>
            <a:srgbClr val="262626"/>
          </a:solidFill>
          <a:ln w="38100">
            <a:solidFill>
              <a:srgbClr val="C09A8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p>
        </p:txBody>
      </p:sp>
      <p:pic>
        <p:nvPicPr>
          <p:cNvPr id="5" name="Imagem 4" descr="Uma imagem com Gráfico, file, diagrama, Retângulo&#10;&#10;Descrição gerada automaticamente">
            <a:extLst>
              <a:ext uri="{FF2B5EF4-FFF2-40B4-BE49-F238E27FC236}">
                <a16:creationId xmlns:a16="http://schemas.microsoft.com/office/drawing/2014/main" id="{ABAF68F8-F8EF-C300-6899-DAFE88BEC8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58179" y="2323465"/>
            <a:ext cx="5754052" cy="2211069"/>
          </a:xfrm>
          <a:prstGeom prst="rect">
            <a:avLst/>
          </a:prstGeom>
        </p:spPr>
      </p:pic>
    </p:spTree>
    <p:extLst>
      <p:ext uri="{BB962C8B-B14F-4D97-AF65-F5344CB8AC3E}">
        <p14:creationId xmlns:p14="http://schemas.microsoft.com/office/powerpoint/2010/main" val="28877022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69F7B35-CB4F-ED40-1F0B-19F648873568}"/>
              </a:ext>
            </a:extLst>
          </p:cNvPr>
          <p:cNvSpPr>
            <a:spLocks noGrp="1"/>
          </p:cNvSpPr>
          <p:nvPr>
            <p:ph type="title"/>
          </p:nvPr>
        </p:nvSpPr>
        <p:spPr>
          <a:xfrm>
            <a:off x="395715" y="314924"/>
            <a:ext cx="10427840" cy="1086056"/>
          </a:xfrm>
        </p:spPr>
        <p:txBody>
          <a:bodyPr/>
          <a:lstStyle/>
          <a:p>
            <a:r>
              <a:rPr lang="pt-PT"/>
              <a:t>Gráfico circular (</a:t>
            </a:r>
            <a:r>
              <a:rPr lang="pt-PT" err="1"/>
              <a:t>outliers</a:t>
            </a:r>
            <a:r>
              <a:rPr lang="pt-PT"/>
              <a:t>)</a:t>
            </a:r>
          </a:p>
        </p:txBody>
      </p:sp>
      <p:sp>
        <p:nvSpPr>
          <p:cNvPr id="5" name="Retângulo 4">
            <a:extLst>
              <a:ext uri="{FF2B5EF4-FFF2-40B4-BE49-F238E27FC236}">
                <a16:creationId xmlns:a16="http://schemas.microsoft.com/office/drawing/2014/main" id="{6479B212-A8B0-3671-A15A-0DB067EC07C7}"/>
              </a:ext>
            </a:extLst>
          </p:cNvPr>
          <p:cNvSpPr/>
          <p:nvPr/>
        </p:nvSpPr>
        <p:spPr>
          <a:xfrm>
            <a:off x="3229384" y="1400980"/>
            <a:ext cx="4743842" cy="4922908"/>
          </a:xfrm>
          <a:prstGeom prst="rect">
            <a:avLst/>
          </a:prstGeom>
          <a:solidFill>
            <a:srgbClr val="262626"/>
          </a:solidFill>
          <a:ln w="38100">
            <a:solidFill>
              <a:srgbClr val="C09A8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p>
        </p:txBody>
      </p:sp>
      <p:pic>
        <p:nvPicPr>
          <p:cNvPr id="4" name="Imagem 3" descr="Uma imagem com texto, captura de ecrã, diagrama, Tipo de letra&#10;&#10;Descrição gerada automaticamente">
            <a:extLst>
              <a:ext uri="{FF2B5EF4-FFF2-40B4-BE49-F238E27FC236}">
                <a16:creationId xmlns:a16="http://schemas.microsoft.com/office/drawing/2014/main" id="{CD075724-F65A-B392-AF8D-D1EE9A5C4742}"/>
              </a:ext>
            </a:extLst>
          </p:cNvPr>
          <p:cNvPicPr>
            <a:picLocks noChangeAspect="1"/>
          </p:cNvPicPr>
          <p:nvPr/>
        </p:nvPicPr>
        <p:blipFill>
          <a:blip r:embed="rId2"/>
          <a:stretch>
            <a:fillRect/>
          </a:stretch>
        </p:blipFill>
        <p:spPr>
          <a:xfrm>
            <a:off x="3334892" y="1533400"/>
            <a:ext cx="4549485" cy="4706454"/>
          </a:xfrm>
          <a:prstGeom prst="rect">
            <a:avLst/>
          </a:prstGeom>
        </p:spPr>
      </p:pic>
    </p:spTree>
    <p:extLst>
      <p:ext uri="{BB962C8B-B14F-4D97-AF65-F5344CB8AC3E}">
        <p14:creationId xmlns:p14="http://schemas.microsoft.com/office/powerpoint/2010/main" val="12883003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EE5E06-82E6-1376-A371-E76E4C8D9352}"/>
              </a:ext>
            </a:extLst>
          </p:cNvPr>
          <p:cNvSpPr>
            <a:spLocks noGrp="1"/>
          </p:cNvSpPr>
          <p:nvPr>
            <p:ph type="title"/>
          </p:nvPr>
        </p:nvSpPr>
        <p:spPr>
          <a:xfrm>
            <a:off x="247559" y="387792"/>
            <a:ext cx="3666415" cy="1086056"/>
          </a:xfrm>
        </p:spPr>
        <p:txBody>
          <a:bodyPr>
            <a:normAutofit fontScale="90000"/>
          </a:bodyPr>
          <a:lstStyle/>
          <a:p>
            <a:pPr algn="ctr"/>
            <a:r>
              <a:rPr lang="pt-PT" err="1"/>
              <a:t>HeatMap</a:t>
            </a:r>
            <a:r>
              <a:rPr lang="pt-PT"/>
              <a:t> (</a:t>
            </a:r>
            <a:r>
              <a:rPr lang="pt-PT" err="1"/>
              <a:t>correlation</a:t>
            </a:r>
            <a:r>
              <a:rPr lang="pt-PT"/>
              <a:t>)</a:t>
            </a:r>
          </a:p>
        </p:txBody>
      </p:sp>
      <p:sp>
        <p:nvSpPr>
          <p:cNvPr id="5" name="Retângulo 4">
            <a:extLst>
              <a:ext uri="{FF2B5EF4-FFF2-40B4-BE49-F238E27FC236}">
                <a16:creationId xmlns:a16="http://schemas.microsoft.com/office/drawing/2014/main" id="{4873892A-C75C-1411-0623-08A4E501ECEE}"/>
              </a:ext>
            </a:extLst>
          </p:cNvPr>
          <p:cNvSpPr/>
          <p:nvPr/>
        </p:nvSpPr>
        <p:spPr>
          <a:xfrm>
            <a:off x="4887685" y="76200"/>
            <a:ext cx="7056755" cy="6498771"/>
          </a:xfrm>
          <a:prstGeom prst="rect">
            <a:avLst/>
          </a:prstGeom>
          <a:solidFill>
            <a:srgbClr val="262626"/>
          </a:solidFill>
          <a:ln w="38100">
            <a:solidFill>
              <a:srgbClr val="C09A8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p>
        </p:txBody>
      </p:sp>
      <p:pic>
        <p:nvPicPr>
          <p:cNvPr id="4" name="Imagem 3" descr="Uma imagem com texto, captura de ecrã, Paralelo&#10;&#10;Descrição gerada automaticamente">
            <a:extLst>
              <a:ext uri="{FF2B5EF4-FFF2-40B4-BE49-F238E27FC236}">
                <a16:creationId xmlns:a16="http://schemas.microsoft.com/office/drawing/2014/main" id="{A9591A6C-7E5D-758C-424A-EBA4B32156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91401" y="172488"/>
            <a:ext cx="6855069" cy="6314319"/>
          </a:xfrm>
          <a:prstGeom prst="rect">
            <a:avLst/>
          </a:prstGeom>
        </p:spPr>
      </p:pic>
    </p:spTree>
    <p:extLst>
      <p:ext uri="{BB962C8B-B14F-4D97-AF65-F5344CB8AC3E}">
        <p14:creationId xmlns:p14="http://schemas.microsoft.com/office/powerpoint/2010/main" val="6076559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1EE718-D024-C7DB-0FB4-9CAD6D011331}"/>
              </a:ext>
            </a:extLst>
          </p:cNvPr>
          <p:cNvSpPr>
            <a:spLocks noGrp="1"/>
          </p:cNvSpPr>
          <p:nvPr>
            <p:ph type="title"/>
          </p:nvPr>
        </p:nvSpPr>
        <p:spPr>
          <a:xfrm>
            <a:off x="439562" y="451830"/>
            <a:ext cx="10427840" cy="1086056"/>
          </a:xfrm>
        </p:spPr>
        <p:txBody>
          <a:bodyPr/>
          <a:lstStyle/>
          <a:p>
            <a:r>
              <a:rPr lang="pt-PT"/>
              <a:t>Tratamento de Dados</a:t>
            </a:r>
          </a:p>
        </p:txBody>
      </p:sp>
      <p:graphicFrame>
        <p:nvGraphicFramePr>
          <p:cNvPr id="4" name="Tabela 3">
            <a:extLst>
              <a:ext uri="{FF2B5EF4-FFF2-40B4-BE49-F238E27FC236}">
                <a16:creationId xmlns:a16="http://schemas.microsoft.com/office/drawing/2014/main" id="{04B2B277-E077-C490-56AC-FB5DFDFAC935}"/>
              </a:ext>
            </a:extLst>
          </p:cNvPr>
          <p:cNvGraphicFramePr>
            <a:graphicFrameLocks noGrp="1"/>
          </p:cNvGraphicFramePr>
          <p:nvPr>
            <p:extLst>
              <p:ext uri="{D42A27DB-BD31-4B8C-83A1-F6EECF244321}">
                <p14:modId xmlns:p14="http://schemas.microsoft.com/office/powerpoint/2010/main" val="3114842238"/>
              </p:ext>
            </p:extLst>
          </p:nvPr>
        </p:nvGraphicFramePr>
        <p:xfrm>
          <a:off x="581115" y="1751887"/>
          <a:ext cx="10810430" cy="3947694"/>
        </p:xfrm>
        <a:graphic>
          <a:graphicData uri="http://schemas.openxmlformats.org/drawingml/2006/table">
            <a:tbl>
              <a:tblPr firstRow="1" bandRow="1">
                <a:tableStyleId>{5C22544A-7EE6-4342-B048-85BDC9FD1C3A}</a:tableStyleId>
              </a:tblPr>
              <a:tblGrid>
                <a:gridCol w="4768552">
                  <a:extLst>
                    <a:ext uri="{9D8B030D-6E8A-4147-A177-3AD203B41FA5}">
                      <a16:colId xmlns:a16="http://schemas.microsoft.com/office/drawing/2014/main" val="3545952890"/>
                    </a:ext>
                  </a:extLst>
                </a:gridCol>
                <a:gridCol w="6041878">
                  <a:extLst>
                    <a:ext uri="{9D8B030D-6E8A-4147-A177-3AD203B41FA5}">
                      <a16:colId xmlns:a16="http://schemas.microsoft.com/office/drawing/2014/main" val="1517004811"/>
                    </a:ext>
                  </a:extLst>
                </a:gridCol>
              </a:tblGrid>
              <a:tr h="463931">
                <a:tc>
                  <a:txBody>
                    <a:bodyPr/>
                    <a:lstStyle/>
                    <a:p>
                      <a:r>
                        <a:rPr lang="pt-PT"/>
                        <a:t>Tratamento</a:t>
                      </a:r>
                    </a:p>
                  </a:txBody>
                  <a:tcPr/>
                </a:tc>
                <a:tc>
                  <a:txBody>
                    <a:bodyPr/>
                    <a:lstStyle/>
                    <a:p>
                      <a:r>
                        <a:rPr lang="pt-PT"/>
                        <a:t>Motivos</a:t>
                      </a:r>
                    </a:p>
                  </a:txBody>
                  <a:tcPr/>
                </a:tc>
                <a:extLst>
                  <a:ext uri="{0D108BD9-81ED-4DB2-BD59-A6C34878D82A}">
                    <a16:rowId xmlns:a16="http://schemas.microsoft.com/office/drawing/2014/main" val="1226439253"/>
                  </a:ext>
                </a:extLst>
              </a:tr>
              <a:tr h="407741">
                <a:tc>
                  <a:txBody>
                    <a:bodyPr/>
                    <a:lstStyle/>
                    <a:p>
                      <a:pPr algn="l"/>
                      <a:r>
                        <a:rPr lang="pt-PT" sz="1400"/>
                        <a:t>Remoção das colunas, cujo nome começava por </a:t>
                      </a:r>
                      <a:r>
                        <a:rPr lang="pt-PT" sz="1400" i="1" err="1"/>
                        <a:t>diagnostics</a:t>
                      </a:r>
                      <a:endParaRPr lang="pt-PT" sz="1400" i="1"/>
                    </a:p>
                  </a:txBody>
                  <a:tcPr/>
                </a:tc>
                <a:tc>
                  <a:txBody>
                    <a:bodyPr/>
                    <a:lstStyle/>
                    <a:p>
                      <a:pPr algn="l"/>
                      <a:r>
                        <a:rPr lang="pt-PT" sz="1400"/>
                        <a:t>Contem apenas meta dados relacionados a imagens, versões de software, etc...</a:t>
                      </a:r>
                    </a:p>
                  </a:txBody>
                  <a:tcPr/>
                </a:tc>
                <a:extLst>
                  <a:ext uri="{0D108BD9-81ED-4DB2-BD59-A6C34878D82A}">
                    <a16:rowId xmlns:a16="http://schemas.microsoft.com/office/drawing/2014/main" val="3707397142"/>
                  </a:ext>
                </a:extLst>
              </a:tr>
              <a:tr h="3674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400"/>
                        <a:t>Remoção das coluna </a:t>
                      </a:r>
                      <a:r>
                        <a:rPr lang="pt-PT" sz="1400" i="1" err="1"/>
                        <a:t>Mask</a:t>
                      </a:r>
                      <a:endParaRPr lang="pt-PT" sz="1400" i="1"/>
                    </a:p>
                  </a:txBody>
                  <a:tcPr/>
                </a:tc>
                <a:tc>
                  <a:txBody>
                    <a:bodyPr/>
                    <a:lstStyle/>
                    <a:p>
                      <a:pPr algn="l"/>
                      <a:r>
                        <a:rPr lang="pt-PT" sz="1400"/>
                        <a:t>Contem informação sobre arquivos de imagem cerebral no formato </a:t>
                      </a:r>
                      <a:r>
                        <a:rPr lang="pt-PT" sz="1400" err="1"/>
                        <a:t>NIfTI</a:t>
                      </a:r>
                      <a:endParaRPr lang="pt-PT" sz="1400"/>
                    </a:p>
                  </a:txBody>
                  <a:tcPr/>
                </a:tc>
                <a:extLst>
                  <a:ext uri="{0D108BD9-81ED-4DB2-BD59-A6C34878D82A}">
                    <a16:rowId xmlns:a16="http://schemas.microsoft.com/office/drawing/2014/main" val="3286962164"/>
                  </a:ext>
                </a:extLst>
              </a:tr>
              <a:tr h="37601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400"/>
                        <a:t>Remoção das colunas </a:t>
                      </a:r>
                      <a:r>
                        <a:rPr lang="pt-PT" sz="1400" i="1" err="1"/>
                        <a:t>Image</a:t>
                      </a:r>
                      <a:endParaRPr lang="pt-PT" sz="1400" i="1"/>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400"/>
                        <a:t>Contem informação sobre arquivos de imagem cerebral no formato </a:t>
                      </a:r>
                      <a:r>
                        <a:rPr lang="pt-PT" sz="1400" err="1"/>
                        <a:t>NIfTI</a:t>
                      </a:r>
                      <a:endParaRPr lang="pt-PT" sz="1400"/>
                    </a:p>
                  </a:txBody>
                  <a:tcPr/>
                </a:tc>
                <a:extLst>
                  <a:ext uri="{0D108BD9-81ED-4DB2-BD59-A6C34878D82A}">
                    <a16:rowId xmlns:a16="http://schemas.microsoft.com/office/drawing/2014/main" val="346316508"/>
                  </a:ext>
                </a:extLst>
              </a:tr>
              <a:tr h="384561">
                <a:tc>
                  <a:txBody>
                    <a:bodyPr/>
                    <a:lstStyle/>
                    <a:p>
                      <a:pPr algn="l"/>
                      <a:r>
                        <a:rPr lang="pt-PT" sz="1400"/>
                        <a:t>Remoção das colunas com pouco ou nenhuma variação</a:t>
                      </a:r>
                    </a:p>
                  </a:txBody>
                  <a:tcPr/>
                </a:tc>
                <a:tc>
                  <a:txBody>
                    <a:bodyPr/>
                    <a:lstStyle/>
                    <a:p>
                      <a:pPr algn="l"/>
                      <a:r>
                        <a:rPr lang="pt-PT" sz="1400"/>
                        <a:t>Não contribuem em nada pela baixa variação</a:t>
                      </a:r>
                    </a:p>
                  </a:txBody>
                  <a:tcPr/>
                </a:tc>
                <a:extLst>
                  <a:ext uri="{0D108BD9-81ED-4DB2-BD59-A6C34878D82A}">
                    <a16:rowId xmlns:a16="http://schemas.microsoft.com/office/drawing/2014/main" val="3453548092"/>
                  </a:ext>
                </a:extLst>
              </a:tr>
              <a:tr h="34183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400"/>
                        <a:t>Normalização dos dados (uso do </a:t>
                      </a:r>
                      <a:r>
                        <a:rPr lang="pt-PT" sz="1400" i="1" err="1"/>
                        <a:t>MinMaxScaler</a:t>
                      </a:r>
                      <a:r>
                        <a:rPr lang="pt-PT" sz="1400"/>
                        <a:t>) </a:t>
                      </a:r>
                    </a:p>
                  </a:txBody>
                  <a:tcPr/>
                </a:tc>
                <a:tc>
                  <a:txBody>
                    <a:bodyPr/>
                    <a:lstStyle/>
                    <a:p>
                      <a:pPr algn="l"/>
                      <a:r>
                        <a:rPr lang="pt-PT" sz="1400"/>
                        <a:t>Escalar os dados para que fiquem no mesmo intervalo (importante para vários modelos/obtém-se melhores resultados)</a:t>
                      </a:r>
                    </a:p>
                  </a:txBody>
                  <a:tcPr/>
                </a:tc>
                <a:extLst>
                  <a:ext uri="{0D108BD9-81ED-4DB2-BD59-A6C34878D82A}">
                    <a16:rowId xmlns:a16="http://schemas.microsoft.com/office/drawing/2014/main" val="664593526"/>
                  </a:ext>
                </a:extLst>
              </a:tr>
              <a:tr h="463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400"/>
                        <a:t>Utilização de </a:t>
                      </a:r>
                      <a:r>
                        <a:rPr lang="pt-PT" sz="1400" i="1"/>
                        <a:t>RFECV</a:t>
                      </a:r>
                    </a:p>
                  </a:txBody>
                  <a:tcPr/>
                </a:tc>
                <a:tc>
                  <a:txBody>
                    <a:bodyPr/>
                    <a:lstStyle/>
                    <a:p>
                      <a:pPr algn="l"/>
                      <a:r>
                        <a:rPr lang="pt-PT" sz="1400"/>
                        <a:t>Para selecionar as características ou componentes mais importantes e melhorar o desempenho do modelo</a:t>
                      </a:r>
                    </a:p>
                  </a:txBody>
                  <a:tcPr/>
                </a:tc>
                <a:extLst>
                  <a:ext uri="{0D108BD9-81ED-4DB2-BD59-A6C34878D82A}">
                    <a16:rowId xmlns:a16="http://schemas.microsoft.com/office/drawing/2014/main" val="1881237869"/>
                  </a:ext>
                </a:extLst>
              </a:tr>
              <a:tr h="3934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400"/>
                        <a:t>Utilização de </a:t>
                      </a:r>
                      <a:r>
                        <a:rPr lang="pt-PT" sz="1400" i="1"/>
                        <a:t>PCA</a:t>
                      </a:r>
                    </a:p>
                  </a:txBody>
                  <a:tcPr/>
                </a:tc>
                <a:tc>
                  <a:txBody>
                    <a:bodyPr/>
                    <a:lstStyle/>
                    <a:p>
                      <a:pPr algn="l"/>
                      <a:r>
                        <a:rPr lang="pt-PT" sz="1400"/>
                        <a:t>Para reduzir a dimensionalidade dos dados</a:t>
                      </a:r>
                    </a:p>
                  </a:txBody>
                  <a:tcPr/>
                </a:tc>
                <a:extLst>
                  <a:ext uri="{0D108BD9-81ED-4DB2-BD59-A6C34878D82A}">
                    <a16:rowId xmlns:a16="http://schemas.microsoft.com/office/drawing/2014/main" val="4225727116"/>
                  </a:ext>
                </a:extLst>
              </a:tr>
              <a:tr h="39898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400"/>
                        <a:t>Utilização de </a:t>
                      </a:r>
                      <a:r>
                        <a:rPr lang="pt-PT" sz="1400" i="1"/>
                        <a:t>SMOTE</a:t>
                      </a:r>
                    </a:p>
                  </a:txBody>
                  <a:tcPr/>
                </a:tc>
                <a:tc>
                  <a:txBody>
                    <a:bodyPr/>
                    <a:lstStyle/>
                    <a:p>
                      <a:pPr algn="l"/>
                      <a:r>
                        <a:rPr lang="pt-PT" sz="1400"/>
                        <a:t>Para balanceamento de classes, corrigindo desequilíbrios que poderiam afetar análises posteriores</a:t>
                      </a:r>
                    </a:p>
                  </a:txBody>
                  <a:tcPr/>
                </a:tc>
                <a:extLst>
                  <a:ext uri="{0D108BD9-81ED-4DB2-BD59-A6C34878D82A}">
                    <a16:rowId xmlns:a16="http://schemas.microsoft.com/office/drawing/2014/main" val="216097208"/>
                  </a:ext>
                </a:extLst>
              </a:tr>
            </a:tbl>
          </a:graphicData>
        </a:graphic>
      </p:graphicFrame>
      <p:sp>
        <p:nvSpPr>
          <p:cNvPr id="6" name="Retângulo 5">
            <a:extLst>
              <a:ext uri="{FF2B5EF4-FFF2-40B4-BE49-F238E27FC236}">
                <a16:creationId xmlns:a16="http://schemas.microsoft.com/office/drawing/2014/main" id="{28955A0E-BFBD-5440-51CA-E781104A7957}"/>
              </a:ext>
            </a:extLst>
          </p:cNvPr>
          <p:cNvSpPr/>
          <p:nvPr/>
        </p:nvSpPr>
        <p:spPr>
          <a:xfrm>
            <a:off x="7996015" y="5845408"/>
            <a:ext cx="4013675" cy="991504"/>
          </a:xfrm>
          <a:prstGeom prst="rect">
            <a:avLst/>
          </a:prstGeom>
          <a:solidFill>
            <a:srgbClr val="262626"/>
          </a:solidFill>
          <a:ln w="38100">
            <a:solidFill>
              <a:srgbClr val="C09A8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5" name="CaixaDeTexto 4">
            <a:extLst>
              <a:ext uri="{FF2B5EF4-FFF2-40B4-BE49-F238E27FC236}">
                <a16:creationId xmlns:a16="http://schemas.microsoft.com/office/drawing/2014/main" id="{E39C6083-F470-981E-852F-312F95072904}"/>
              </a:ext>
            </a:extLst>
          </p:cNvPr>
          <p:cNvSpPr txBox="1"/>
          <p:nvPr/>
        </p:nvSpPr>
        <p:spPr>
          <a:xfrm>
            <a:off x="8104260" y="5913582"/>
            <a:ext cx="4013675" cy="923330"/>
          </a:xfrm>
          <a:prstGeom prst="rect">
            <a:avLst/>
          </a:prstGeom>
          <a:noFill/>
        </p:spPr>
        <p:txBody>
          <a:bodyPr wrap="square" rtlCol="0">
            <a:spAutoFit/>
          </a:bodyPr>
          <a:lstStyle/>
          <a:p>
            <a:r>
              <a:rPr lang="pt-PT" b="1"/>
              <a:t>Contudo, não houve aplicação prática do PCA nem SMOTE, por levarem a piores resultados.</a:t>
            </a:r>
          </a:p>
        </p:txBody>
      </p:sp>
    </p:spTree>
    <p:extLst>
      <p:ext uri="{BB962C8B-B14F-4D97-AF65-F5344CB8AC3E}">
        <p14:creationId xmlns:p14="http://schemas.microsoft.com/office/powerpoint/2010/main" val="16230203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F159A1-E98B-BA06-CF9F-99651FE37888}"/>
              </a:ext>
            </a:extLst>
          </p:cNvPr>
          <p:cNvSpPr>
            <a:spLocks noGrp="1"/>
          </p:cNvSpPr>
          <p:nvPr>
            <p:ph type="title"/>
          </p:nvPr>
        </p:nvSpPr>
        <p:spPr/>
        <p:txBody>
          <a:bodyPr/>
          <a:lstStyle/>
          <a:p>
            <a:r>
              <a:rPr lang="pt-PT"/>
              <a:t>Hipocampo </a:t>
            </a:r>
            <a:r>
              <a:rPr lang="pt-PT" err="1"/>
              <a:t>vs</a:t>
            </a:r>
            <a:r>
              <a:rPr lang="pt-PT"/>
              <a:t> Lobo Occipital</a:t>
            </a:r>
          </a:p>
        </p:txBody>
      </p:sp>
      <p:graphicFrame>
        <p:nvGraphicFramePr>
          <p:cNvPr id="4" name="Tabela 3">
            <a:extLst>
              <a:ext uri="{FF2B5EF4-FFF2-40B4-BE49-F238E27FC236}">
                <a16:creationId xmlns:a16="http://schemas.microsoft.com/office/drawing/2014/main" id="{229EB9C0-D42B-373D-9995-549BA900F60A}"/>
              </a:ext>
            </a:extLst>
          </p:cNvPr>
          <p:cNvGraphicFramePr>
            <a:graphicFrameLocks noGrp="1"/>
          </p:cNvGraphicFramePr>
          <p:nvPr>
            <p:extLst>
              <p:ext uri="{D42A27DB-BD31-4B8C-83A1-F6EECF244321}">
                <p14:modId xmlns:p14="http://schemas.microsoft.com/office/powerpoint/2010/main" val="1876363355"/>
              </p:ext>
            </p:extLst>
          </p:nvPr>
        </p:nvGraphicFramePr>
        <p:xfrm>
          <a:off x="1700613" y="3412283"/>
          <a:ext cx="8127999" cy="148336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90883348"/>
                    </a:ext>
                  </a:extLst>
                </a:gridCol>
                <a:gridCol w="2709333">
                  <a:extLst>
                    <a:ext uri="{9D8B030D-6E8A-4147-A177-3AD203B41FA5}">
                      <a16:colId xmlns:a16="http://schemas.microsoft.com/office/drawing/2014/main" val="1630153761"/>
                    </a:ext>
                  </a:extLst>
                </a:gridCol>
                <a:gridCol w="2709333">
                  <a:extLst>
                    <a:ext uri="{9D8B030D-6E8A-4147-A177-3AD203B41FA5}">
                      <a16:colId xmlns:a16="http://schemas.microsoft.com/office/drawing/2014/main" val="3864881898"/>
                    </a:ext>
                  </a:extLst>
                </a:gridCol>
              </a:tblGrid>
              <a:tr h="370840">
                <a:tc>
                  <a:txBody>
                    <a:bodyPr/>
                    <a:lstStyle/>
                    <a:p>
                      <a:r>
                        <a:rPr lang="pt-PT"/>
                        <a:t>Modelos</a:t>
                      </a:r>
                    </a:p>
                  </a:txBody>
                  <a:tcPr/>
                </a:tc>
                <a:tc>
                  <a:txBody>
                    <a:bodyPr/>
                    <a:lstStyle/>
                    <a:p>
                      <a:r>
                        <a:rPr lang="pt-PT"/>
                        <a:t>Hipocampo </a:t>
                      </a:r>
                    </a:p>
                  </a:txBody>
                  <a:tcPr/>
                </a:tc>
                <a:tc>
                  <a:txBody>
                    <a:bodyPr/>
                    <a:lstStyle/>
                    <a:p>
                      <a:r>
                        <a:rPr lang="pt-PT"/>
                        <a:t>Lobo Occipital</a:t>
                      </a:r>
                    </a:p>
                  </a:txBody>
                  <a:tcPr/>
                </a:tc>
                <a:extLst>
                  <a:ext uri="{0D108BD9-81ED-4DB2-BD59-A6C34878D82A}">
                    <a16:rowId xmlns:a16="http://schemas.microsoft.com/office/drawing/2014/main" val="1192941988"/>
                  </a:ext>
                </a:extLst>
              </a:tr>
              <a:tr h="370840">
                <a:tc>
                  <a:txBody>
                    <a:bodyPr/>
                    <a:lstStyle/>
                    <a:p>
                      <a:r>
                        <a:rPr lang="pt-PT" err="1"/>
                        <a:t>Decision</a:t>
                      </a:r>
                      <a:r>
                        <a:rPr lang="pt-PT"/>
                        <a:t> </a:t>
                      </a:r>
                      <a:r>
                        <a:rPr lang="pt-PT" err="1"/>
                        <a:t>Tree</a:t>
                      </a:r>
                      <a:endParaRPr lang="pt-PT"/>
                    </a:p>
                  </a:txBody>
                  <a:tcPr/>
                </a:tc>
                <a:tc>
                  <a:txBody>
                    <a:bodyPr/>
                    <a:lstStyle/>
                    <a:p>
                      <a:r>
                        <a:rPr lang="pt-PT"/>
                        <a:t>0.25</a:t>
                      </a:r>
                    </a:p>
                  </a:txBody>
                  <a:tcPr/>
                </a:tc>
                <a:tc>
                  <a:txBody>
                    <a:bodyPr/>
                    <a:lstStyle/>
                    <a:p>
                      <a:r>
                        <a:rPr lang="pt-PT"/>
                        <a:t>0.20</a:t>
                      </a:r>
                    </a:p>
                  </a:txBody>
                  <a:tcPr/>
                </a:tc>
                <a:extLst>
                  <a:ext uri="{0D108BD9-81ED-4DB2-BD59-A6C34878D82A}">
                    <a16:rowId xmlns:a16="http://schemas.microsoft.com/office/drawing/2014/main" val="3158897015"/>
                  </a:ext>
                </a:extLst>
              </a:tr>
              <a:tr h="370840">
                <a:tc>
                  <a:txBody>
                    <a:bodyPr/>
                    <a:lstStyle/>
                    <a:p>
                      <a:r>
                        <a:rPr lang="pt-PT" err="1"/>
                        <a:t>Random</a:t>
                      </a:r>
                      <a:r>
                        <a:rPr lang="pt-PT"/>
                        <a:t> </a:t>
                      </a:r>
                      <a:r>
                        <a:rPr lang="pt-PT" err="1"/>
                        <a:t>Forest</a:t>
                      </a:r>
                      <a:endParaRPr lang="pt-PT"/>
                    </a:p>
                  </a:txBody>
                  <a:tcPr/>
                </a:tc>
                <a:tc>
                  <a:txBody>
                    <a:bodyPr/>
                    <a:lstStyle/>
                    <a:p>
                      <a:r>
                        <a:rPr lang="pt-PT"/>
                        <a:t>0.32</a:t>
                      </a:r>
                    </a:p>
                  </a:txBody>
                  <a:tcPr/>
                </a:tc>
                <a:tc>
                  <a:txBody>
                    <a:bodyPr/>
                    <a:lstStyle/>
                    <a:p>
                      <a:r>
                        <a:rPr lang="pt-PT"/>
                        <a:t>0.28</a:t>
                      </a:r>
                    </a:p>
                  </a:txBody>
                  <a:tcPr/>
                </a:tc>
                <a:extLst>
                  <a:ext uri="{0D108BD9-81ED-4DB2-BD59-A6C34878D82A}">
                    <a16:rowId xmlns:a16="http://schemas.microsoft.com/office/drawing/2014/main" val="464851190"/>
                  </a:ext>
                </a:extLst>
              </a:tr>
              <a:tr h="370840">
                <a:tc>
                  <a:txBody>
                    <a:bodyPr/>
                    <a:lstStyle/>
                    <a:p>
                      <a:r>
                        <a:rPr lang="pt-PT" err="1"/>
                        <a:t>Support</a:t>
                      </a:r>
                      <a:r>
                        <a:rPr lang="pt-PT"/>
                        <a:t> </a:t>
                      </a:r>
                      <a:r>
                        <a:rPr lang="pt-PT" err="1"/>
                        <a:t>Vector</a:t>
                      </a:r>
                      <a:endParaRPr lang="pt-PT"/>
                    </a:p>
                  </a:txBody>
                  <a:tcPr/>
                </a:tc>
                <a:tc>
                  <a:txBody>
                    <a:bodyPr/>
                    <a:lstStyle/>
                    <a:p>
                      <a:r>
                        <a:rPr lang="pt-PT"/>
                        <a:t>0.44</a:t>
                      </a:r>
                    </a:p>
                  </a:txBody>
                  <a:tcPr/>
                </a:tc>
                <a:tc>
                  <a:txBody>
                    <a:bodyPr/>
                    <a:lstStyle/>
                    <a:p>
                      <a:r>
                        <a:rPr lang="pt-PT"/>
                        <a:t>0.26</a:t>
                      </a:r>
                    </a:p>
                  </a:txBody>
                  <a:tcPr/>
                </a:tc>
                <a:extLst>
                  <a:ext uri="{0D108BD9-81ED-4DB2-BD59-A6C34878D82A}">
                    <a16:rowId xmlns:a16="http://schemas.microsoft.com/office/drawing/2014/main" val="3973503211"/>
                  </a:ext>
                </a:extLst>
              </a:tr>
            </a:tbl>
          </a:graphicData>
        </a:graphic>
      </p:graphicFrame>
      <p:graphicFrame>
        <p:nvGraphicFramePr>
          <p:cNvPr id="5" name="Tabela 4">
            <a:extLst>
              <a:ext uri="{FF2B5EF4-FFF2-40B4-BE49-F238E27FC236}">
                <a16:creationId xmlns:a16="http://schemas.microsoft.com/office/drawing/2014/main" id="{671A9BA5-6B7C-451C-1309-72C1CA201803}"/>
              </a:ext>
            </a:extLst>
          </p:cNvPr>
          <p:cNvGraphicFramePr>
            <a:graphicFrameLocks noGrp="1"/>
          </p:cNvGraphicFramePr>
          <p:nvPr>
            <p:extLst>
              <p:ext uri="{D42A27DB-BD31-4B8C-83A1-F6EECF244321}">
                <p14:modId xmlns:p14="http://schemas.microsoft.com/office/powerpoint/2010/main" val="765528727"/>
              </p:ext>
            </p:extLst>
          </p:nvPr>
        </p:nvGraphicFramePr>
        <p:xfrm>
          <a:off x="4401082" y="3041443"/>
          <a:ext cx="5427530" cy="370840"/>
        </p:xfrm>
        <a:graphic>
          <a:graphicData uri="http://schemas.openxmlformats.org/drawingml/2006/table">
            <a:tbl>
              <a:tblPr firstRow="1" bandRow="1">
                <a:tableStyleId>{5C22544A-7EE6-4342-B048-85BDC9FD1C3A}</a:tableStyleId>
              </a:tblPr>
              <a:tblGrid>
                <a:gridCol w="5427530">
                  <a:extLst>
                    <a:ext uri="{9D8B030D-6E8A-4147-A177-3AD203B41FA5}">
                      <a16:colId xmlns:a16="http://schemas.microsoft.com/office/drawing/2014/main" val="3397245538"/>
                    </a:ext>
                  </a:extLst>
                </a:gridCol>
              </a:tblGrid>
              <a:tr h="370840">
                <a:tc>
                  <a:txBody>
                    <a:bodyPr/>
                    <a:lstStyle/>
                    <a:p>
                      <a:pPr algn="ctr"/>
                      <a:r>
                        <a:rPr lang="pt-PT"/>
                        <a:t> f1_macro</a:t>
                      </a:r>
                    </a:p>
                  </a:txBody>
                  <a:tcPr/>
                </a:tc>
                <a:extLst>
                  <a:ext uri="{0D108BD9-81ED-4DB2-BD59-A6C34878D82A}">
                    <a16:rowId xmlns:a16="http://schemas.microsoft.com/office/drawing/2014/main" val="1414729674"/>
                  </a:ext>
                </a:extLst>
              </a:tr>
            </a:tbl>
          </a:graphicData>
        </a:graphic>
      </p:graphicFrame>
    </p:spTree>
    <p:extLst>
      <p:ext uri="{BB962C8B-B14F-4D97-AF65-F5344CB8AC3E}">
        <p14:creationId xmlns:p14="http://schemas.microsoft.com/office/powerpoint/2010/main" val="14176118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35E3B6-125A-761B-734D-BD4909F0D241}"/>
              </a:ext>
            </a:extLst>
          </p:cNvPr>
          <p:cNvSpPr>
            <a:spLocks noGrp="1"/>
          </p:cNvSpPr>
          <p:nvPr>
            <p:ph type="title"/>
          </p:nvPr>
        </p:nvSpPr>
        <p:spPr/>
        <p:txBody>
          <a:bodyPr/>
          <a:lstStyle/>
          <a:p>
            <a:r>
              <a:rPr lang="pt-PT"/>
              <a:t>Competição</a:t>
            </a:r>
          </a:p>
        </p:txBody>
      </p:sp>
      <p:sp>
        <p:nvSpPr>
          <p:cNvPr id="3" name="Marcador de Posição de Conteúdo 2">
            <a:extLst>
              <a:ext uri="{FF2B5EF4-FFF2-40B4-BE49-F238E27FC236}">
                <a16:creationId xmlns:a16="http://schemas.microsoft.com/office/drawing/2014/main" id="{285BBAEF-8AE0-111F-BCEC-65D20DE6FB53}"/>
              </a:ext>
            </a:extLst>
          </p:cNvPr>
          <p:cNvSpPr>
            <a:spLocks noGrp="1"/>
          </p:cNvSpPr>
          <p:nvPr>
            <p:ph idx="1"/>
          </p:nvPr>
        </p:nvSpPr>
        <p:spPr/>
        <p:txBody>
          <a:bodyPr vert="horz" lIns="91440" tIns="45720" rIns="91440" bIns="45720" rtlCol="0" anchor="t">
            <a:normAutofit/>
          </a:bodyPr>
          <a:lstStyle/>
          <a:p>
            <a:r>
              <a:rPr lang="pt-PT" sz="1700">
                <a:ea typeface="Calibri"/>
                <a:cs typeface="Calibri"/>
              </a:rPr>
              <a:t>Para esta tarefa tínhamos de submeter no </a:t>
            </a:r>
            <a:r>
              <a:rPr lang="pt-PT" sz="1700" i="1" err="1">
                <a:ea typeface="Calibri"/>
                <a:cs typeface="Calibri"/>
              </a:rPr>
              <a:t>kaggle</a:t>
            </a:r>
            <a:r>
              <a:rPr lang="pt-PT" sz="1700">
                <a:ea typeface="Calibri"/>
                <a:cs typeface="Calibri"/>
              </a:rPr>
              <a:t> o modelo que consideramos mais eficaz a  prever a progressão dos pacientes.</a:t>
            </a:r>
          </a:p>
          <a:p>
            <a:r>
              <a:rPr lang="pt-PT" sz="1700">
                <a:ea typeface="Calibri"/>
                <a:cs typeface="Calibri"/>
              </a:rPr>
              <a:t>O resultado era baseado na métrica f1_macro</a:t>
            </a:r>
          </a:p>
          <a:p>
            <a:r>
              <a:rPr lang="pt-PT" sz="1700">
                <a:ea typeface="Calibri"/>
                <a:cs typeface="Calibri"/>
              </a:rPr>
              <a:t>Tínhamos acesso a cálculos feitos com 30% dos dados de teste.</a:t>
            </a:r>
          </a:p>
          <a:p>
            <a:endParaRPr lang="pt-PT" sz="1700">
              <a:ea typeface="Calibri"/>
              <a:cs typeface="Calibri"/>
            </a:endParaRPr>
          </a:p>
          <a:p>
            <a:r>
              <a:rPr lang="pt-PT" sz="1700"/>
              <a:t>Para facilitar a criação e o teste de modelos, decidimos implementar um </a:t>
            </a:r>
            <a:r>
              <a:rPr lang="pt-PT" sz="1700" i="1" err="1"/>
              <a:t>template</a:t>
            </a:r>
            <a:r>
              <a:rPr lang="pt-PT" sz="1700"/>
              <a:t> composto por 2 partes:</a:t>
            </a:r>
          </a:p>
          <a:p>
            <a:pPr marL="560070" lvl="1" indent="-285750">
              <a:buFont typeface="Wingdings" pitchFamily="2" charset="2"/>
              <a:buChar char="è"/>
            </a:pPr>
            <a:r>
              <a:rPr lang="pt-PT" sz="1700"/>
              <a:t>Tratamento ajustável de dados (etapa de normalização, </a:t>
            </a:r>
            <a:r>
              <a:rPr lang="pt-PT" sz="1700" err="1"/>
              <a:t>Feature</a:t>
            </a:r>
            <a:r>
              <a:rPr lang="pt-PT" sz="1700"/>
              <a:t> </a:t>
            </a:r>
            <a:r>
              <a:rPr lang="pt-PT" sz="1700" err="1"/>
              <a:t>Selection</a:t>
            </a:r>
            <a:r>
              <a:rPr lang="pt-PT" sz="1700"/>
              <a:t> (RFECV e PCA) e SMOTE);</a:t>
            </a:r>
            <a:endParaRPr lang="pt-PT" sz="1700">
              <a:cs typeface="Calibri"/>
            </a:endParaRPr>
          </a:p>
          <a:p>
            <a:pPr marL="560070" lvl="1" indent="-285750">
              <a:buFont typeface="Wingdings" pitchFamily="2" charset="2"/>
              <a:buChar char="è"/>
            </a:pPr>
            <a:r>
              <a:rPr lang="pt-PT" sz="1700">
                <a:cs typeface="Calibri"/>
              </a:rPr>
              <a:t>Modelação (utilização de </a:t>
            </a:r>
            <a:r>
              <a:rPr lang="pt-PT" sz="1700" err="1">
                <a:cs typeface="Calibri"/>
              </a:rPr>
              <a:t>GrindSearch</a:t>
            </a:r>
            <a:r>
              <a:rPr lang="pt-PT" sz="1700">
                <a:cs typeface="Calibri"/>
              </a:rPr>
              <a:t> de forma a encontrar os melhor </a:t>
            </a:r>
            <a:r>
              <a:rPr lang="pt-PT" sz="1700" err="1">
                <a:cs typeface="Calibri"/>
              </a:rPr>
              <a:t>hiperparâmetros</a:t>
            </a:r>
            <a:r>
              <a:rPr lang="pt-PT" sz="1700">
                <a:cs typeface="Calibri"/>
              </a:rPr>
              <a:t> para cada modelo. Avaliação do resultado).</a:t>
            </a:r>
            <a:endParaRPr lang="pt-PT" sz="1700"/>
          </a:p>
        </p:txBody>
      </p:sp>
    </p:spTree>
    <p:extLst>
      <p:ext uri="{BB962C8B-B14F-4D97-AF65-F5344CB8AC3E}">
        <p14:creationId xmlns:p14="http://schemas.microsoft.com/office/powerpoint/2010/main" val="40932444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D42022-DD72-3055-6AF1-D049E4BD152A}"/>
              </a:ext>
            </a:extLst>
          </p:cNvPr>
          <p:cNvSpPr>
            <a:spLocks noGrp="1"/>
          </p:cNvSpPr>
          <p:nvPr>
            <p:ph type="title"/>
          </p:nvPr>
        </p:nvSpPr>
        <p:spPr>
          <a:xfrm>
            <a:off x="216549" y="167964"/>
            <a:ext cx="10427840" cy="1086056"/>
          </a:xfrm>
        </p:spPr>
        <p:txBody>
          <a:bodyPr/>
          <a:lstStyle/>
          <a:p>
            <a:r>
              <a:rPr lang="pt-PT" dirty="0"/>
              <a:t>Competição</a:t>
            </a:r>
          </a:p>
        </p:txBody>
      </p:sp>
      <p:pic>
        <p:nvPicPr>
          <p:cNvPr id="4" name="Marcador de Posição de Conteúdo 3" descr="Uma imagem com texto, captura de ecrã, ecrã, software&#10;&#10;Os conteúdos gerados pela IA podem estar incorretos.">
            <a:extLst>
              <a:ext uri="{FF2B5EF4-FFF2-40B4-BE49-F238E27FC236}">
                <a16:creationId xmlns:a16="http://schemas.microsoft.com/office/drawing/2014/main" id="{C1371366-08A4-CB89-9803-472726192DAB}"/>
              </a:ext>
            </a:extLst>
          </p:cNvPr>
          <p:cNvPicPr>
            <a:picLocks noGrp="1" noChangeAspect="1"/>
          </p:cNvPicPr>
          <p:nvPr>
            <p:ph idx="1"/>
          </p:nvPr>
        </p:nvPicPr>
        <p:blipFill>
          <a:blip r:embed="rId2"/>
          <a:stretch>
            <a:fillRect/>
          </a:stretch>
        </p:blipFill>
        <p:spPr>
          <a:xfrm>
            <a:off x="321848" y="2186363"/>
            <a:ext cx="6729211" cy="1795100"/>
          </a:xfrm>
        </p:spPr>
      </p:pic>
      <p:sp>
        <p:nvSpPr>
          <p:cNvPr id="6" name="CaixaDeTexto 5">
            <a:extLst>
              <a:ext uri="{FF2B5EF4-FFF2-40B4-BE49-F238E27FC236}">
                <a16:creationId xmlns:a16="http://schemas.microsoft.com/office/drawing/2014/main" id="{CB8F2D92-85F4-FB65-19B6-01DE9DB67B16}"/>
              </a:ext>
            </a:extLst>
          </p:cNvPr>
          <p:cNvSpPr txBox="1"/>
          <p:nvPr/>
        </p:nvSpPr>
        <p:spPr>
          <a:xfrm>
            <a:off x="321971" y="1717183"/>
            <a:ext cx="227526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pt-PT" sz="2000" dirty="0"/>
              <a:t>RFECV</a:t>
            </a:r>
          </a:p>
        </p:txBody>
      </p:sp>
      <p:sp>
        <p:nvSpPr>
          <p:cNvPr id="7" name="CaixaDeTexto 6">
            <a:extLst>
              <a:ext uri="{FF2B5EF4-FFF2-40B4-BE49-F238E27FC236}">
                <a16:creationId xmlns:a16="http://schemas.microsoft.com/office/drawing/2014/main" id="{5BDBFEE3-FEA2-3ABF-A738-0C2A592E1B24}"/>
              </a:ext>
            </a:extLst>
          </p:cNvPr>
          <p:cNvSpPr txBox="1"/>
          <p:nvPr/>
        </p:nvSpPr>
        <p:spPr>
          <a:xfrm>
            <a:off x="7426817" y="2114280"/>
            <a:ext cx="250064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pt-PT" sz="2000" err="1"/>
              <a:t>GridSearch</a:t>
            </a:r>
            <a:endParaRPr lang="pt-PT" sz="2000"/>
          </a:p>
        </p:txBody>
      </p:sp>
      <p:pic>
        <p:nvPicPr>
          <p:cNvPr id="8" name="Imagem 7" descr="Uma imagem com texto, captura de ecrã, Tipo de letra&#10;&#10;Os conteúdos gerados pela IA podem estar incorretos.">
            <a:extLst>
              <a:ext uri="{FF2B5EF4-FFF2-40B4-BE49-F238E27FC236}">
                <a16:creationId xmlns:a16="http://schemas.microsoft.com/office/drawing/2014/main" id="{E7F54B32-C0EE-A54F-E6D7-E952752D8FF5}"/>
              </a:ext>
            </a:extLst>
          </p:cNvPr>
          <p:cNvPicPr>
            <a:picLocks noChangeAspect="1"/>
          </p:cNvPicPr>
          <p:nvPr/>
        </p:nvPicPr>
        <p:blipFill>
          <a:blip r:embed="rId3"/>
          <a:stretch>
            <a:fillRect/>
          </a:stretch>
        </p:blipFill>
        <p:spPr>
          <a:xfrm>
            <a:off x="7427756" y="2628968"/>
            <a:ext cx="4248150" cy="3209925"/>
          </a:xfrm>
          <a:prstGeom prst="rect">
            <a:avLst/>
          </a:prstGeom>
        </p:spPr>
      </p:pic>
    </p:spTree>
    <p:extLst>
      <p:ext uri="{BB962C8B-B14F-4D97-AF65-F5344CB8AC3E}">
        <p14:creationId xmlns:p14="http://schemas.microsoft.com/office/powerpoint/2010/main" val="41840802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7A00AE-04B8-5FD0-B91B-402664CC6549}"/>
              </a:ext>
            </a:extLst>
          </p:cNvPr>
          <p:cNvSpPr>
            <a:spLocks noGrp="1"/>
          </p:cNvSpPr>
          <p:nvPr>
            <p:ph type="title"/>
          </p:nvPr>
        </p:nvSpPr>
        <p:spPr>
          <a:xfrm>
            <a:off x="484859" y="339682"/>
            <a:ext cx="10427840" cy="1086056"/>
          </a:xfrm>
        </p:spPr>
        <p:txBody>
          <a:bodyPr/>
          <a:lstStyle/>
          <a:p>
            <a:r>
              <a:rPr lang="pt-PT" dirty="0"/>
              <a:t>Competição</a:t>
            </a:r>
          </a:p>
        </p:txBody>
      </p:sp>
      <p:pic>
        <p:nvPicPr>
          <p:cNvPr id="4" name="Marcador de Posição de Conteúdo 3" descr="Uma imagem com texto, captura de ecrã, Tipo de letra&#10;&#10;Os conteúdos gerados pela IA podem estar incorretos.">
            <a:extLst>
              <a:ext uri="{FF2B5EF4-FFF2-40B4-BE49-F238E27FC236}">
                <a16:creationId xmlns:a16="http://schemas.microsoft.com/office/drawing/2014/main" id="{1FB032FC-D632-CA01-4609-52BA2A5724C9}"/>
              </a:ext>
            </a:extLst>
          </p:cNvPr>
          <p:cNvPicPr>
            <a:picLocks noGrp="1" noChangeAspect="1"/>
          </p:cNvPicPr>
          <p:nvPr>
            <p:ph idx="1"/>
          </p:nvPr>
        </p:nvPicPr>
        <p:blipFill>
          <a:blip r:embed="rId2"/>
          <a:stretch>
            <a:fillRect/>
          </a:stretch>
        </p:blipFill>
        <p:spPr>
          <a:xfrm>
            <a:off x="483572" y="2122089"/>
            <a:ext cx="4742244" cy="1880719"/>
          </a:xfrm>
        </p:spPr>
      </p:pic>
      <p:pic>
        <p:nvPicPr>
          <p:cNvPr id="5" name="Imagem 4" descr="Uma imagem com texto, captura de ecrã, Tipo de letra&#10;&#10;Os conteúdos gerados pela IA podem estar incorretos.">
            <a:extLst>
              <a:ext uri="{FF2B5EF4-FFF2-40B4-BE49-F238E27FC236}">
                <a16:creationId xmlns:a16="http://schemas.microsoft.com/office/drawing/2014/main" id="{3BE3F34E-0B18-A152-1E09-67DD0DD4C8FC}"/>
              </a:ext>
            </a:extLst>
          </p:cNvPr>
          <p:cNvPicPr>
            <a:picLocks noChangeAspect="1"/>
          </p:cNvPicPr>
          <p:nvPr/>
        </p:nvPicPr>
        <p:blipFill>
          <a:blip r:embed="rId3"/>
          <a:stretch>
            <a:fillRect/>
          </a:stretch>
        </p:blipFill>
        <p:spPr>
          <a:xfrm>
            <a:off x="6206210" y="1899231"/>
            <a:ext cx="5059922" cy="1750184"/>
          </a:xfrm>
          <a:prstGeom prst="rect">
            <a:avLst/>
          </a:prstGeom>
        </p:spPr>
      </p:pic>
      <p:sp>
        <p:nvSpPr>
          <p:cNvPr id="6" name="CaixaDeTexto 5">
            <a:extLst>
              <a:ext uri="{FF2B5EF4-FFF2-40B4-BE49-F238E27FC236}">
                <a16:creationId xmlns:a16="http://schemas.microsoft.com/office/drawing/2014/main" id="{BF028598-4531-F3CF-389C-4BE7AF498A32}"/>
              </a:ext>
            </a:extLst>
          </p:cNvPr>
          <p:cNvSpPr txBox="1"/>
          <p:nvPr/>
        </p:nvSpPr>
        <p:spPr>
          <a:xfrm>
            <a:off x="6203324" y="1352282"/>
            <a:ext cx="397098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PT" dirty="0" err="1"/>
              <a:t>Gradient</a:t>
            </a:r>
            <a:r>
              <a:rPr lang="pt-PT" dirty="0"/>
              <a:t> </a:t>
            </a:r>
            <a:r>
              <a:rPr lang="pt-PT" dirty="0" err="1"/>
              <a:t>Boosting</a:t>
            </a:r>
          </a:p>
        </p:txBody>
      </p:sp>
      <p:sp>
        <p:nvSpPr>
          <p:cNvPr id="10" name="CaixaDeTexto 9">
            <a:extLst>
              <a:ext uri="{FF2B5EF4-FFF2-40B4-BE49-F238E27FC236}">
                <a16:creationId xmlns:a16="http://schemas.microsoft.com/office/drawing/2014/main" id="{E806261B-6FBC-DCB8-789B-EAD9702A87AF}"/>
              </a:ext>
            </a:extLst>
          </p:cNvPr>
          <p:cNvSpPr txBox="1"/>
          <p:nvPr/>
        </p:nvSpPr>
        <p:spPr>
          <a:xfrm>
            <a:off x="482958" y="1717183"/>
            <a:ext cx="397098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PT"/>
              <a:t>Multilayer Perceptron</a:t>
            </a:r>
          </a:p>
        </p:txBody>
      </p:sp>
      <p:sp>
        <p:nvSpPr>
          <p:cNvPr id="14" name="CaixaDeTexto 13">
            <a:extLst>
              <a:ext uri="{FF2B5EF4-FFF2-40B4-BE49-F238E27FC236}">
                <a16:creationId xmlns:a16="http://schemas.microsoft.com/office/drawing/2014/main" id="{F179116D-24C6-8211-6257-A3DED3FA38EE}"/>
              </a:ext>
            </a:extLst>
          </p:cNvPr>
          <p:cNvSpPr txBox="1"/>
          <p:nvPr/>
        </p:nvSpPr>
        <p:spPr>
          <a:xfrm>
            <a:off x="482958" y="4260760"/>
            <a:ext cx="397098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PT" dirty="0" err="1"/>
              <a:t>Stacking</a:t>
            </a:r>
          </a:p>
        </p:txBody>
      </p:sp>
      <p:pic>
        <p:nvPicPr>
          <p:cNvPr id="16" name="Marcador de Posição de Conteúdo 3" descr="Uma imagem com texto, captura de ecrã, Tipo de letra&#10;&#10;Os conteúdos gerados pela IA podem estar incorretos.">
            <a:extLst>
              <a:ext uri="{FF2B5EF4-FFF2-40B4-BE49-F238E27FC236}">
                <a16:creationId xmlns:a16="http://schemas.microsoft.com/office/drawing/2014/main" id="{6C8EB201-8ADA-2FC3-0AF3-156C5E46DFAF}"/>
              </a:ext>
            </a:extLst>
          </p:cNvPr>
          <p:cNvPicPr>
            <a:picLocks noChangeAspect="1"/>
          </p:cNvPicPr>
          <p:nvPr/>
        </p:nvPicPr>
        <p:blipFill>
          <a:blip r:embed="rId4"/>
          <a:stretch>
            <a:fillRect/>
          </a:stretch>
        </p:blipFill>
        <p:spPr>
          <a:xfrm>
            <a:off x="221547" y="4627476"/>
            <a:ext cx="5644445" cy="1441151"/>
          </a:xfrm>
          <a:prstGeom prst="rect">
            <a:avLst/>
          </a:prstGeom>
        </p:spPr>
      </p:pic>
      <p:pic>
        <p:nvPicPr>
          <p:cNvPr id="18" name="Imagem 17" descr="Uma imagem com captura de ecrã, texto, Tipo de letra&#10;&#10;Os conteúdos gerados pela IA podem estar incorretos.">
            <a:extLst>
              <a:ext uri="{FF2B5EF4-FFF2-40B4-BE49-F238E27FC236}">
                <a16:creationId xmlns:a16="http://schemas.microsoft.com/office/drawing/2014/main" id="{3D176922-061C-5377-0B1F-4D52D34EFDEB}"/>
              </a:ext>
            </a:extLst>
          </p:cNvPr>
          <p:cNvPicPr>
            <a:picLocks noChangeAspect="1"/>
          </p:cNvPicPr>
          <p:nvPr/>
        </p:nvPicPr>
        <p:blipFill>
          <a:blip r:embed="rId5"/>
          <a:stretch>
            <a:fillRect/>
          </a:stretch>
        </p:blipFill>
        <p:spPr>
          <a:xfrm>
            <a:off x="6005900" y="4447953"/>
            <a:ext cx="6096000" cy="1121394"/>
          </a:xfrm>
          <a:prstGeom prst="rect">
            <a:avLst/>
          </a:prstGeom>
        </p:spPr>
      </p:pic>
      <p:sp>
        <p:nvSpPr>
          <p:cNvPr id="20" name="CaixaDeTexto 19">
            <a:extLst>
              <a:ext uri="{FF2B5EF4-FFF2-40B4-BE49-F238E27FC236}">
                <a16:creationId xmlns:a16="http://schemas.microsoft.com/office/drawing/2014/main" id="{A3CBDFBA-73A2-2841-C2B0-5B399E724BF8}"/>
              </a:ext>
            </a:extLst>
          </p:cNvPr>
          <p:cNvSpPr txBox="1"/>
          <p:nvPr/>
        </p:nvSpPr>
        <p:spPr>
          <a:xfrm>
            <a:off x="6010141" y="4003183"/>
            <a:ext cx="365974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PT" dirty="0"/>
              <a:t>Max </a:t>
            </a:r>
            <a:r>
              <a:rPr lang="pt-PT" dirty="0" err="1"/>
              <a:t>Voting</a:t>
            </a:r>
          </a:p>
        </p:txBody>
      </p:sp>
    </p:spTree>
    <p:extLst>
      <p:ext uri="{BB962C8B-B14F-4D97-AF65-F5344CB8AC3E}">
        <p14:creationId xmlns:p14="http://schemas.microsoft.com/office/powerpoint/2010/main" val="16879896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35E3B6-125A-761B-734D-BD4909F0D241}"/>
              </a:ext>
            </a:extLst>
          </p:cNvPr>
          <p:cNvSpPr>
            <a:spLocks noGrp="1"/>
          </p:cNvSpPr>
          <p:nvPr>
            <p:ph type="title"/>
          </p:nvPr>
        </p:nvSpPr>
        <p:spPr/>
        <p:txBody>
          <a:bodyPr/>
          <a:lstStyle/>
          <a:p>
            <a:r>
              <a:rPr lang="pt-PT" dirty="0"/>
              <a:t>Resultados – </a:t>
            </a:r>
            <a:r>
              <a:rPr lang="pt-PT" i="1" dirty="0"/>
              <a:t>f1_macro</a:t>
            </a:r>
          </a:p>
        </p:txBody>
      </p:sp>
      <p:graphicFrame>
        <p:nvGraphicFramePr>
          <p:cNvPr id="4" name="Tabela 3">
            <a:extLst>
              <a:ext uri="{FF2B5EF4-FFF2-40B4-BE49-F238E27FC236}">
                <a16:creationId xmlns:a16="http://schemas.microsoft.com/office/drawing/2014/main" id="{3DE0C06E-4852-7517-133D-A6EE2A28D801}"/>
              </a:ext>
            </a:extLst>
          </p:cNvPr>
          <p:cNvGraphicFramePr>
            <a:graphicFrameLocks noGrp="1"/>
          </p:cNvGraphicFramePr>
          <p:nvPr>
            <p:extLst>
              <p:ext uri="{D42A27DB-BD31-4B8C-83A1-F6EECF244321}">
                <p14:modId xmlns:p14="http://schemas.microsoft.com/office/powerpoint/2010/main" val="1651639892"/>
              </p:ext>
            </p:extLst>
          </p:nvPr>
        </p:nvGraphicFramePr>
        <p:xfrm>
          <a:off x="994950" y="2481865"/>
          <a:ext cx="8836320" cy="2225040"/>
        </p:xfrm>
        <a:graphic>
          <a:graphicData uri="http://schemas.openxmlformats.org/drawingml/2006/table">
            <a:tbl>
              <a:tblPr firstRow="1" bandRow="1">
                <a:tableStyleId>{5C22544A-7EE6-4342-B048-85BDC9FD1C3A}</a:tableStyleId>
              </a:tblPr>
              <a:tblGrid>
                <a:gridCol w="2945440">
                  <a:extLst>
                    <a:ext uri="{9D8B030D-6E8A-4147-A177-3AD203B41FA5}">
                      <a16:colId xmlns:a16="http://schemas.microsoft.com/office/drawing/2014/main" val="4226772557"/>
                    </a:ext>
                  </a:extLst>
                </a:gridCol>
                <a:gridCol w="2945440">
                  <a:extLst>
                    <a:ext uri="{9D8B030D-6E8A-4147-A177-3AD203B41FA5}">
                      <a16:colId xmlns:a16="http://schemas.microsoft.com/office/drawing/2014/main" val="2257717227"/>
                    </a:ext>
                  </a:extLst>
                </a:gridCol>
                <a:gridCol w="2945440">
                  <a:extLst>
                    <a:ext uri="{9D8B030D-6E8A-4147-A177-3AD203B41FA5}">
                      <a16:colId xmlns:a16="http://schemas.microsoft.com/office/drawing/2014/main" val="827589678"/>
                    </a:ext>
                  </a:extLst>
                </a:gridCol>
              </a:tblGrid>
              <a:tr h="370840">
                <a:tc>
                  <a:txBody>
                    <a:bodyPr/>
                    <a:lstStyle/>
                    <a:p>
                      <a:r>
                        <a:rPr lang="pt-PT"/>
                        <a:t>Modelos</a:t>
                      </a:r>
                    </a:p>
                  </a:txBody>
                  <a:tcPr/>
                </a:tc>
                <a:tc>
                  <a:txBody>
                    <a:bodyPr/>
                    <a:lstStyle/>
                    <a:p>
                      <a:r>
                        <a:rPr lang="pt-PT"/>
                        <a:t>Resultado Local</a:t>
                      </a:r>
                    </a:p>
                  </a:txBody>
                  <a:tcPr/>
                </a:tc>
                <a:tc>
                  <a:txBody>
                    <a:bodyPr/>
                    <a:lstStyle/>
                    <a:p>
                      <a:r>
                        <a:rPr lang="pt-PT"/>
                        <a:t>Resultado Kaggle (público)</a:t>
                      </a:r>
                      <a:endParaRPr lang="pt-PT" dirty="0"/>
                    </a:p>
                  </a:txBody>
                  <a:tcPr/>
                </a:tc>
                <a:extLst>
                  <a:ext uri="{0D108BD9-81ED-4DB2-BD59-A6C34878D82A}">
                    <a16:rowId xmlns:a16="http://schemas.microsoft.com/office/drawing/2014/main" val="3739101594"/>
                  </a:ext>
                </a:extLst>
              </a:tr>
              <a:tr h="370840">
                <a:tc>
                  <a:txBody>
                    <a:bodyPr/>
                    <a:lstStyle/>
                    <a:p>
                      <a:r>
                        <a:rPr lang="pt-PT" err="1"/>
                        <a:t>Multilayer</a:t>
                      </a:r>
                      <a:r>
                        <a:rPr lang="pt-PT"/>
                        <a:t> </a:t>
                      </a:r>
                      <a:r>
                        <a:rPr lang="pt-PT" err="1"/>
                        <a:t>Perceptron</a:t>
                      </a:r>
                      <a:endParaRPr lang="pt-PT"/>
                    </a:p>
                  </a:txBody>
                  <a:tcPr/>
                </a:tc>
                <a:tc>
                  <a:txBody>
                    <a:bodyPr/>
                    <a:lstStyle/>
                    <a:p>
                      <a:r>
                        <a:rPr lang="pt-PT"/>
                        <a:t>33%</a:t>
                      </a:r>
                    </a:p>
                  </a:txBody>
                  <a:tcPr/>
                </a:tc>
                <a:tc>
                  <a:txBody>
                    <a:bodyPr/>
                    <a:lstStyle/>
                    <a:p>
                      <a:endParaRPr lang="pt-PT"/>
                    </a:p>
                  </a:txBody>
                  <a:tcPr/>
                </a:tc>
                <a:extLst>
                  <a:ext uri="{0D108BD9-81ED-4DB2-BD59-A6C34878D82A}">
                    <a16:rowId xmlns:a16="http://schemas.microsoft.com/office/drawing/2014/main" val="1742859312"/>
                  </a:ext>
                </a:extLst>
              </a:tr>
              <a:tr h="370840">
                <a:tc>
                  <a:txBody>
                    <a:bodyPr/>
                    <a:lstStyle/>
                    <a:p>
                      <a:r>
                        <a:rPr lang="pt-PT" err="1"/>
                        <a:t>Gradient</a:t>
                      </a:r>
                      <a:r>
                        <a:rPr lang="pt-PT"/>
                        <a:t> </a:t>
                      </a:r>
                      <a:r>
                        <a:rPr lang="pt-PT" err="1"/>
                        <a:t>Boosting</a:t>
                      </a:r>
                      <a:endParaRPr lang="pt-PT"/>
                    </a:p>
                  </a:txBody>
                  <a:tcPr/>
                </a:tc>
                <a:tc>
                  <a:txBody>
                    <a:bodyPr/>
                    <a:lstStyle/>
                    <a:p>
                      <a:r>
                        <a:rPr lang="pt-PT"/>
                        <a:t>46%</a:t>
                      </a:r>
                    </a:p>
                  </a:txBody>
                  <a:tcPr/>
                </a:tc>
                <a:tc>
                  <a:txBody>
                    <a:bodyPr/>
                    <a:lstStyle/>
                    <a:p>
                      <a:r>
                        <a:rPr lang="pt-PT"/>
                        <a:t>40.3%</a:t>
                      </a:r>
                    </a:p>
                  </a:txBody>
                  <a:tcPr/>
                </a:tc>
                <a:extLst>
                  <a:ext uri="{0D108BD9-81ED-4DB2-BD59-A6C34878D82A}">
                    <a16:rowId xmlns:a16="http://schemas.microsoft.com/office/drawing/2014/main" val="3243530851"/>
                  </a:ext>
                </a:extLst>
              </a:tr>
              <a:tr h="370840">
                <a:tc>
                  <a:txBody>
                    <a:bodyPr/>
                    <a:lstStyle/>
                    <a:p>
                      <a:r>
                        <a:rPr lang="pt-PT" err="1"/>
                        <a:t>XGBoosting</a:t>
                      </a:r>
                      <a:endParaRPr lang="pt-PT"/>
                    </a:p>
                  </a:txBody>
                  <a:tcPr/>
                </a:tc>
                <a:tc>
                  <a:txBody>
                    <a:bodyPr/>
                    <a:lstStyle/>
                    <a:p>
                      <a:r>
                        <a:rPr lang="pt-PT"/>
                        <a:t>36%</a:t>
                      </a:r>
                    </a:p>
                  </a:txBody>
                  <a:tcPr/>
                </a:tc>
                <a:tc>
                  <a:txBody>
                    <a:bodyPr/>
                    <a:lstStyle/>
                    <a:p>
                      <a:endParaRPr lang="pt-PT"/>
                    </a:p>
                  </a:txBody>
                  <a:tcPr/>
                </a:tc>
                <a:extLst>
                  <a:ext uri="{0D108BD9-81ED-4DB2-BD59-A6C34878D82A}">
                    <a16:rowId xmlns:a16="http://schemas.microsoft.com/office/drawing/2014/main" val="2289000507"/>
                  </a:ext>
                </a:extLst>
              </a:tr>
              <a:tr h="370840">
                <a:tc>
                  <a:txBody>
                    <a:bodyPr/>
                    <a:lstStyle/>
                    <a:p>
                      <a:r>
                        <a:rPr lang="pt-PT" err="1"/>
                        <a:t>Stacking</a:t>
                      </a:r>
                      <a:endParaRPr lang="pt-PT"/>
                    </a:p>
                  </a:txBody>
                  <a:tcPr/>
                </a:tc>
                <a:tc>
                  <a:txBody>
                    <a:bodyPr/>
                    <a:lstStyle/>
                    <a:p>
                      <a:r>
                        <a:rPr lang="pt-PT"/>
                        <a:t>50%</a:t>
                      </a:r>
                    </a:p>
                  </a:txBody>
                  <a:tcPr/>
                </a:tc>
                <a:tc>
                  <a:txBody>
                    <a:bodyPr/>
                    <a:lstStyle/>
                    <a:p>
                      <a:r>
                        <a:rPr lang="pt-PT"/>
                        <a:t>47.4%</a:t>
                      </a:r>
                    </a:p>
                  </a:txBody>
                  <a:tcPr/>
                </a:tc>
                <a:extLst>
                  <a:ext uri="{0D108BD9-81ED-4DB2-BD59-A6C34878D82A}">
                    <a16:rowId xmlns:a16="http://schemas.microsoft.com/office/drawing/2014/main" val="3997957073"/>
                  </a:ext>
                </a:extLst>
              </a:tr>
              <a:tr h="370840">
                <a:tc>
                  <a:txBody>
                    <a:bodyPr/>
                    <a:lstStyle/>
                    <a:p>
                      <a:r>
                        <a:rPr lang="pt-PT"/>
                        <a:t>Max </a:t>
                      </a:r>
                      <a:r>
                        <a:rPr lang="pt-PT" err="1"/>
                        <a:t>Voting</a:t>
                      </a:r>
                      <a:endParaRPr lang="pt-PT"/>
                    </a:p>
                  </a:txBody>
                  <a:tcPr/>
                </a:tc>
                <a:tc>
                  <a:txBody>
                    <a:bodyPr/>
                    <a:lstStyle/>
                    <a:p>
                      <a:r>
                        <a:rPr lang="pt-PT"/>
                        <a:t>51%</a:t>
                      </a:r>
                    </a:p>
                  </a:txBody>
                  <a:tcPr/>
                </a:tc>
                <a:tc>
                  <a:txBody>
                    <a:bodyPr/>
                    <a:lstStyle/>
                    <a:p>
                      <a:r>
                        <a:rPr lang="pt-PT"/>
                        <a:t>48.8%</a:t>
                      </a:r>
                    </a:p>
                  </a:txBody>
                  <a:tcPr/>
                </a:tc>
                <a:extLst>
                  <a:ext uri="{0D108BD9-81ED-4DB2-BD59-A6C34878D82A}">
                    <a16:rowId xmlns:a16="http://schemas.microsoft.com/office/drawing/2014/main" val="1898739655"/>
                  </a:ext>
                </a:extLst>
              </a:tr>
            </a:tbl>
          </a:graphicData>
        </a:graphic>
      </p:graphicFrame>
      <p:cxnSp>
        <p:nvCxnSpPr>
          <p:cNvPr id="6" name="Conexão Reta 5">
            <a:extLst>
              <a:ext uri="{FF2B5EF4-FFF2-40B4-BE49-F238E27FC236}">
                <a16:creationId xmlns:a16="http://schemas.microsoft.com/office/drawing/2014/main" id="{0C622367-4F5E-B15F-6A5A-11C1F9BC2A59}"/>
              </a:ext>
            </a:extLst>
          </p:cNvPr>
          <p:cNvCxnSpPr>
            <a:cxnSpLocks/>
          </p:cNvCxnSpPr>
          <p:nvPr/>
        </p:nvCxnSpPr>
        <p:spPr>
          <a:xfrm>
            <a:off x="7059388" y="3052614"/>
            <a:ext cx="1119499"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8" name="Conexão Reta 7">
            <a:extLst>
              <a:ext uri="{FF2B5EF4-FFF2-40B4-BE49-F238E27FC236}">
                <a16:creationId xmlns:a16="http://schemas.microsoft.com/office/drawing/2014/main" id="{B8B48E06-AEFC-604F-6FED-32C4FC260A3E}"/>
              </a:ext>
            </a:extLst>
          </p:cNvPr>
          <p:cNvCxnSpPr>
            <a:cxnSpLocks/>
          </p:cNvCxnSpPr>
          <p:nvPr/>
        </p:nvCxnSpPr>
        <p:spPr>
          <a:xfrm>
            <a:off x="7063361" y="3771023"/>
            <a:ext cx="1119499" cy="0"/>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95620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E809C4-2DE6-F9B7-7108-12469277E372}"/>
              </a:ext>
            </a:extLst>
          </p:cNvPr>
          <p:cNvSpPr>
            <a:spLocks noGrp="1"/>
          </p:cNvSpPr>
          <p:nvPr>
            <p:ph type="title"/>
          </p:nvPr>
        </p:nvSpPr>
        <p:spPr/>
        <p:txBody>
          <a:bodyPr/>
          <a:lstStyle/>
          <a:p>
            <a:r>
              <a:rPr lang="pt-PT"/>
              <a:t>Análise crítica dos resultados</a:t>
            </a:r>
          </a:p>
        </p:txBody>
      </p:sp>
      <p:sp>
        <p:nvSpPr>
          <p:cNvPr id="3" name="Marcador de Posição de Conteúdo 2">
            <a:extLst>
              <a:ext uri="{FF2B5EF4-FFF2-40B4-BE49-F238E27FC236}">
                <a16:creationId xmlns:a16="http://schemas.microsoft.com/office/drawing/2014/main" id="{61328071-7201-ECE0-6DE8-5BAD2AB944D0}"/>
              </a:ext>
            </a:extLst>
          </p:cNvPr>
          <p:cNvSpPr>
            <a:spLocks noGrp="1"/>
          </p:cNvSpPr>
          <p:nvPr>
            <p:ph idx="1"/>
          </p:nvPr>
        </p:nvSpPr>
        <p:spPr>
          <a:xfrm>
            <a:off x="849758" y="2516745"/>
            <a:ext cx="10427841" cy="3903298"/>
          </a:xfrm>
        </p:spPr>
        <p:txBody>
          <a:bodyPr vert="horz" lIns="91440" tIns="45720" rIns="91440" bIns="45720" rtlCol="0" anchor="t">
            <a:normAutofit/>
          </a:bodyPr>
          <a:lstStyle/>
          <a:p>
            <a:r>
              <a:rPr lang="pt-PT"/>
              <a:t>O modelo Max </a:t>
            </a:r>
            <a:r>
              <a:rPr lang="pt-PT" err="1"/>
              <a:t>Voting</a:t>
            </a:r>
            <a:r>
              <a:rPr lang="pt-PT"/>
              <a:t> alcançou bom desempenho inicial (0.48765) na competição pública, mas teve queda significativa na avaliação privada (0.28551). Esta diferença foi possivelmente causada pelo uso agressivo do RFECV na redução de dimensionalidade, levando a </a:t>
            </a:r>
            <a:r>
              <a:rPr lang="pt-PT" i="1" err="1"/>
              <a:t>overfitting</a:t>
            </a:r>
            <a:r>
              <a:rPr lang="pt-PT"/>
              <a:t>.</a:t>
            </a:r>
          </a:p>
          <a:p>
            <a:pPr marL="342900" indent="-342900"/>
            <a:r>
              <a:rPr lang="pt-PT" dirty="0"/>
              <a:t>Pontos a melhorar:</a:t>
            </a:r>
          </a:p>
          <a:p>
            <a:pPr marL="617220" indent="-342900"/>
            <a:r>
              <a:rPr lang="pt-PT" dirty="0">
                <a:ea typeface="+mn-lt"/>
                <a:cs typeface="+mn-lt"/>
              </a:rPr>
              <a:t>melhor análise aos dados, </a:t>
            </a:r>
            <a:r>
              <a:rPr lang="pt-PT" i="0" dirty="0">
                <a:ea typeface="+mn-lt"/>
                <a:cs typeface="+mn-lt"/>
              </a:rPr>
              <a:t>sobretudo às características </a:t>
            </a:r>
            <a:r>
              <a:rPr lang="pt-PT" i="0" dirty="0" err="1">
                <a:ea typeface="+mn-lt"/>
                <a:cs typeface="+mn-lt"/>
              </a:rPr>
              <a:t>radiómicas</a:t>
            </a:r>
            <a:r>
              <a:rPr lang="pt-PT" dirty="0">
                <a:ea typeface="+mn-lt"/>
                <a:cs typeface="+mn-lt"/>
              </a:rPr>
              <a:t>;</a:t>
            </a:r>
          </a:p>
          <a:p>
            <a:pPr marL="617220" indent="-342900"/>
            <a:r>
              <a:rPr lang="pt-PT" dirty="0"/>
              <a:t>utilizar uma alternativa diferente ao RFECV para redução </a:t>
            </a:r>
            <a:r>
              <a:rPr lang="pt-PT"/>
              <a:t>de </a:t>
            </a:r>
            <a:r>
              <a:rPr lang="pt-PT" dirty="0"/>
              <a:t>dimensionalidade;</a:t>
            </a:r>
          </a:p>
        </p:txBody>
      </p:sp>
    </p:spTree>
    <p:extLst>
      <p:ext uri="{BB962C8B-B14F-4D97-AF65-F5344CB8AC3E}">
        <p14:creationId xmlns:p14="http://schemas.microsoft.com/office/powerpoint/2010/main" val="2710303095"/>
      </p:ext>
    </p:extLst>
  </p:cSld>
  <p:clrMapOvr>
    <a:masterClrMapping/>
  </p:clrMapOvr>
</p:sld>
</file>

<file path=ppt/theme/theme1.xml><?xml version="1.0" encoding="utf-8"?>
<a:theme xmlns:a="http://schemas.openxmlformats.org/drawingml/2006/main" name="VaultVTI">
  <a:themeElements>
    <a:clrScheme name="AnalogousFromLightSeedRightStep">
      <a:dk1>
        <a:srgbClr val="000000"/>
      </a:dk1>
      <a:lt1>
        <a:srgbClr val="FFFFFF"/>
      </a:lt1>
      <a:dk2>
        <a:srgbClr val="412D24"/>
      </a:dk2>
      <a:lt2>
        <a:srgbClr val="E2E6E8"/>
      </a:lt2>
      <a:accent1>
        <a:srgbClr val="BF9989"/>
      </a:accent1>
      <a:accent2>
        <a:srgbClr val="AFA078"/>
      </a:accent2>
      <a:accent3>
        <a:srgbClr val="A1A77E"/>
      </a:accent3>
      <a:accent4>
        <a:srgbClr val="8DAA74"/>
      </a:accent4>
      <a:accent5>
        <a:srgbClr val="83AC81"/>
      </a:accent5>
      <a:accent6>
        <a:srgbClr val="77AE8C"/>
      </a:accent6>
      <a:hlink>
        <a:srgbClr val="5E899C"/>
      </a:hlink>
      <a:folHlink>
        <a:srgbClr val="7F7F7F"/>
      </a:folHlink>
    </a:clrScheme>
    <a:fontScheme name="Custom 5">
      <a:majorFont>
        <a:latin typeface="Georgia Pro Light"/>
        <a:ea typeface=""/>
        <a:cs typeface=""/>
      </a:majorFont>
      <a:minorFont>
        <a:latin typeface="Georgia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ultVTI" id="{144E1EB0-F9F9-4F8D-8264-A2820BA0C47A}" vid="{3A992A48-7697-4A22-A884-B4A11E62184D}"/>
    </a:ext>
  </a:extLst>
</a:theme>
</file>

<file path=docProps/app.xml><?xml version="1.0" encoding="utf-8"?>
<Properties xmlns="http://schemas.openxmlformats.org/officeDocument/2006/extended-properties" xmlns:vt="http://schemas.openxmlformats.org/officeDocument/2006/docPropsVTypes">
  <TotalTime>0</TotalTime>
  <Words>701</Words>
  <Application>Microsoft Macintosh PowerPoint</Application>
  <PresentationFormat>Ecrã Panorâmico</PresentationFormat>
  <Paragraphs>112</Paragraphs>
  <Slides>15</Slides>
  <Notes>0</Notes>
  <HiddenSlides>0</HiddenSlides>
  <MMClips>0</MMClips>
  <ScaleCrop>false</ScaleCrop>
  <HeadingPairs>
    <vt:vector size="6" baseType="variant">
      <vt:variant>
        <vt:lpstr>Tipos de letra usados</vt:lpstr>
      </vt:variant>
      <vt:variant>
        <vt:i4>5</vt:i4>
      </vt:variant>
      <vt:variant>
        <vt:lpstr>Tema</vt:lpstr>
      </vt:variant>
      <vt:variant>
        <vt:i4>1</vt:i4>
      </vt:variant>
      <vt:variant>
        <vt:lpstr>Títulos dos diapositivos</vt:lpstr>
      </vt:variant>
      <vt:variant>
        <vt:i4>15</vt:i4>
      </vt:variant>
    </vt:vector>
  </HeadingPairs>
  <TitlesOfParts>
    <vt:vector size="21" baseType="lpstr">
      <vt:lpstr>Aptos</vt:lpstr>
      <vt:lpstr>Arial</vt:lpstr>
      <vt:lpstr>Calibri</vt:lpstr>
      <vt:lpstr>Georgia Pro Light</vt:lpstr>
      <vt:lpstr>Wingdings</vt:lpstr>
      <vt:lpstr>VaultVTI</vt:lpstr>
      <vt:lpstr>Dados e Aprendizagem Automática</vt:lpstr>
      <vt:lpstr>Introdução</vt:lpstr>
      <vt:lpstr>Descrição dos datasets</vt:lpstr>
      <vt:lpstr>Análise dos dados</vt:lpstr>
      <vt:lpstr>Barchart (análise de atributos individualmente)</vt:lpstr>
      <vt:lpstr>Gráficos de atributos relacionados</vt:lpstr>
      <vt:lpstr>Gráfico circular (outliers)</vt:lpstr>
      <vt:lpstr>HeatMap (correlation)</vt:lpstr>
      <vt:lpstr>Tratamento de Dados</vt:lpstr>
      <vt:lpstr>Hipocampo vs Lobo Occipital</vt:lpstr>
      <vt:lpstr>Competição</vt:lpstr>
      <vt:lpstr>Competição</vt:lpstr>
      <vt:lpstr>Competição</vt:lpstr>
      <vt:lpstr>Resultados – f1_macro</vt:lpstr>
      <vt:lpstr>Análise crítica dos resultados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Martim José Amaro Redondo</cp:lastModifiedBy>
  <cp:revision>1</cp:revision>
  <dcterms:created xsi:type="dcterms:W3CDTF">2025-01-21T21:39:21Z</dcterms:created>
  <dcterms:modified xsi:type="dcterms:W3CDTF">2025-01-22T13:25:43Z</dcterms:modified>
</cp:coreProperties>
</file>